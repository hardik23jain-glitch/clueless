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49cc097-f221-494d-e241-100d08fbf533}">
          <p14:sldIdLst>
            <p14:sldId id="256"/>
          </p14:sldIdLst>
        </p14:section>
        <p14:section name="Problem and solution" id="{f648e6f2-9110-fd19-1718-1b6234c09db4}">
          <p14:sldIdLst>
            <p14:sldId id="257"/>
            <p14:sldId id="258"/>
          </p14:sldIdLst>
        </p14:section>
        <p14:section name="How it works" id="{7b8efe62-fecc-a114-001c-0407b1102044}">
          <p14:sldIdLst>
            <p14:sldId id="259"/>
            <p14:sldId id="260"/>
            <p14:sldId id="261"/>
            <p14:sldId id="262"/>
            <p14:sldId id="263"/>
            <p14:sldId id="264"/>
          </p14:sldIdLst>
        </p14:section>
        <p14:section name="Tools and Cline" id="{239739d6-7e8f-0d4a-b561-5f104806adb9}">
          <p14:sldIdLst>
            <p14:sldId id="265"/>
            <p14:sldId id="266"/>
          </p14:sldIdLst>
        </p14:section>
        <p14:section name="Proof" id="{6bcf06a5-f34d-c760-0f84-4efa2019f401}">
          <p14:sldIdLst>
            <p14:sldId id="267"/>
            <p14:sldId id="268"/>
            <p14:sldId id="269"/>
          </p14:sldIdLst>
        </p14:section>
        <p14:section name="Wrap-up" id="{6c0e32eb-7399-2ab2-acac-b1a9d49b8efb}">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4E4A"/>
                </a:solidFill>
                <a:latin typeface="+mn-lt"/>
              </a:defRPr>
            </a:pPr>
            <a:r>
              <a:rPr sz="1400" b="0" i="0" u="none" strike="noStrike">
                <a:solidFill>
                  <a:srgbClr val="134E4A"/>
                </a:solidFill>
                <a:latin typeface="+mn-lt"/>
              </a:rPr>
              <a:t>Accuracy on accepted fields (%)</a:t>
            </a:r>
          </a:p>
        </c:rich>
      </c:tx>
      <c:layout/>
      <c:overlay val="0"/>
    </c:title>
    <c:autoTitleDeleted val="0"/>
    <c:plotArea>
      <c:layout/>
      <c:barChart>
        <c:barDir val="col"/>
        <c:grouping val="clustered"/>
        <c:varyColors val="0"/>
        <c:ser>
          <c:idx val="0"/>
          <c:order val="0"/>
          <c:tx>
            <c:strRef>
              <c:f>Sheet1!$B$1</c:f>
              <c:strCache>
                <c:ptCount val="1"/>
                <c:pt idx="0">
                  <c:v>Accuracy on accepted fields (%)</c:v>
                </c:pt>
              </c:strCache>
            </c:strRef>
          </c:tx>
          <c:spPr>
            <a:solidFill>
              <a:srgbClr val="0F766E"/>
            </a:solidFill>
            <a:effectLst/>
          </c:spPr>
          <c:invertIfNegative val="0"/>
          <c:dLbls>
            <c:numFmt formatCode="0.0" sourceLinked="0"/>
            <c:txPr>
              <a:bodyPr/>
              <a:lstStyle/>
              <a:p>
                <a:pPr>
                  <a:defRPr b="0" i="0" strike="noStrike" sz="1400" u="none">
                    <a:solidFill>
                      <a:srgbClr val="10262A"/>
                    </a:solidFill>
                    <a:latin typeface="+mn-lt"/>
                  </a:defRPr>
                </a:pPr>
              </a:p>
            </c:txPr>
            <c:showLegendKey val="0"/>
            <c:showVal val="1"/>
            <c:showCatName val="0"/>
            <c:showSerName val="0"/>
            <c:showPercent val="0"/>
            <c:showBubbleSize val="0"/>
            <c:showLeaderLines val="0"/>
          </c:dLbls>
          <c:dPt>
            <c:idx val="0"/>
            <c:invertIfNegative val="0"/>
            <c:bubble3D val="0"/>
            <c:spPr>
              <a:solidFill>
                <a:srgbClr val="0F766E"/>
              </a:solidFill>
              <a:effectLst/>
            </c:spPr>
          </c:dPt>
          <c:dPt>
            <c:idx val="1"/>
            <c:invertIfNegative val="0"/>
            <c:bubble3D val="0"/>
            <c:spPr>
              <a:solidFill>
                <a:srgbClr val="0F766E"/>
              </a:solidFill>
              <a:effectLst/>
            </c:spPr>
          </c:dPt>
          <c:dPt>
            <c:idx val="2"/>
            <c:invertIfNegative val="0"/>
            <c:bubble3D val="0"/>
            <c:spPr>
              <a:solidFill>
                <a:srgbClr val="0F766E"/>
              </a:solidFill>
              <a:effectLst/>
            </c:spPr>
          </c:dPt>
          <c:dPt>
            <c:idx val="3"/>
            <c:invertIfNegative val="0"/>
            <c:bubble3D val="0"/>
            <c:spPr>
              <a:solidFill>
                <a:srgbClr val="F59E0B"/>
              </a:solidFill>
              <a:effectLst/>
            </c:spPr>
          </c:dPt>
          <c:cat>
            <c:multiLvlStrRef>
              <c:f>Sheet1!$A$2:$A$5</c:f>
              <c:multiLvlStrCache>
                <c:ptCount val="4"/>
                <c:lvl>
                  <c:pt idx="0">
                    <c:v>English</c:v>
                  </c:pt>
                  <c:pt idx="1">
                    <c:v>Hindi</c:v>
                  </c:pt>
                  <c:pt idx="2">
                    <c:v>Handwriting-style</c:v>
                  </c:pt>
                  <c:pt idx="3">
                    <c:v>All</c:v>
                  </c:pt>
                </c:lvl>
              </c:multiLvlStrCache>
            </c:multiLvlStrRef>
          </c:cat>
          <c:val>
            <c:numRef>
              <c:f>Sheet1!$B$2:$B$5</c:f>
              <c:numCache>
                <c:formatCode>General</c:formatCode>
                <c:ptCount val="4"/>
                <c:pt idx="0">
                  <c:v>99</c:v>
                </c:pt>
                <c:pt idx="1">
                  <c:v>100</c:v>
                </c:pt>
                <c:pt idx="2">
                  <c:v>100</c:v>
                </c:pt>
                <c:pt idx="3">
                  <c:v>99.3</c:v>
                </c:pt>
              </c:numCache>
            </c:numRef>
          </c:val>
        </c:ser>
        <c:dLbls>
          <c:numFmt formatCode="0.0" sourceLinked="0"/>
          <c:txPr>
            <a:bodyPr/>
            <a:lstStyle/>
            <a:p>
              <a:pPr>
                <a:defRPr b="0" i="0" strike="noStrike" sz="1400" u="none">
                  <a:solidFill>
                    <a:srgbClr val="1026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0262A"/>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majorGridlines>
          <c:spPr>
            <a:ln w="6350" cap="flat">
              <a:solidFill>
                <a:srgbClr val="E4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Bhoomi Kaaval: Bhoomi is land, Kaaval is guard. We help a buyer or a Sub-Registrar check property documents before money changes hands, and we always show where each finding comes from. We never certify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structural: registration confirms a document was executed, not that the seller owns the property. Officers cannot decide title, so signals that sit inside historic deeds go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core serves two users. The line we keep repeating: the AI only extracts. Every flag comes from deterministic code, so it is explainable and reproducible.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Steps one to four are extraction: we hash the original file, mask ID numbers, let a vision model read the page, then check its quote against an independent reader. Step five is deterministic rules. Steps six and seven are the officer and the signed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core idea. Most tools collapse missing and unreadable into one bucket, which either hides real gaps or invents false ones. We keep them apart. The model's own confidence is poorly calibrated, so it gets only 40 percent of the vote.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A are objective registrability checks. Class B are advisories: the officer records a disposition, but cannot refuse on title grounds, matching the draft Registration Bill's position that registering officers do not decide title. Draft-Bill statements stay labelled as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user actually sees. Every flag carries the page and the exact words. The same data feeds the citizen view, the officer console and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app's own pages rendered with its real styles, using the synthetic sample data. The finding card shows the red Class A item with its page; the ledger shows two linked blocks and the red alert from the tamper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ledger shows what the system produced, what the officer recorded, and that none of it was altered afterwards. We say tamper-evident, not blockchain, and we do not claim it proves fault: for Class B advisories the officer may rightly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does the reading; everything that decides is ordinary code. The extractor sits behind one function, so a department can later swap in a self-hosted model and keep documents on its own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Cline use. In the build, Cline made reviewable changes with tests and commits. Inside the product, a Cline SDK agent helps with unreadable fields but is deliberately powerless: it can only propose, and ordinary code decides whether to accept. We also say plainly that other AI assistants wrote the first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show the pipeline logic works. They do not show real-world OCR robustness: the documents are synthetic and the labels were authored by the team. Recent benchmarks show vision models degrade on real Indic scans, so we report abstentions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documents found real bugs that clean test files never showed. The redaction one matters most: a privacy guarantee is only as good as the formats it has been tested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our work to the judging criteria. For Cline we describe exactly what Cline did, and the bonus is the SDK agent inside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exactly what we have and have not tested, so nothing is overclaimed. Right: the roadmap, with the pilot and a self-hosted model first, because those matter most for real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and the limit: we show what the documents say and where it comes from, and we never certify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17320"/>
            <a:ext cx="6675120" cy="11430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B7276"/>
                </a:solidFill>
              </a:rPr>
              <a:t>Bhoomi Kaaval  ·  Cline AI Builder Hackathon</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3.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68680"/>
            <a:ext cx="68580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CLINE AI BUILDER HACKATHON  ·  ROUND 2</a:t>
            </a:r>
            <a:endParaRPr lang="en-US" sz="1400" dirty="0"/>
          </a:p>
        </p:txBody>
      </p:sp>
      <p:sp>
        <p:nvSpPr>
          <p:cNvPr id="3" name="Text 0"/>
          <p:cNvSpPr/>
          <p:nvPr>
            <p:ph idx="100" type="title" hasCustomPrompt="1"/>
          </p:nvPr>
        </p:nvSpPr>
        <p:spPr>
          <a:xfrm>
            <a:off x="731520" y="1417320"/>
            <a:ext cx="6675120" cy="1143000"/>
          </a:xfrm>
          <a:prstGeom prst="rect">
            <a:avLst/>
          </a:prstGeom>
          <a:noFill/>
          <a:ln/>
        </p:spPr>
        <p:txBody>
          <a:bodyPr wrap="square" lIns="0" tIns="0" rIns="0" bIns="0" rtlCol="0" anchor="ctr"/>
          <a:lstStyle/>
          <a:p>
            <a:pPr algn="l" indent="0" marL="0">
              <a:buNone/>
            </a:pPr>
            <a:r>
              <a:rPr lang="en-US" sz="6000" b="1" dirty="0">
                <a:solidFill>
                  <a:schemeClr val="bg1"/>
                </a:solidFill>
              </a:rPr>
              <a:t>Bhoomi Kaaval</a:t>
            </a:r>
            <a:endParaRPr lang="en-US" sz="6000" dirty="0"/>
          </a:p>
        </p:txBody>
      </p:sp>
      <p:sp>
        <p:nvSpPr>
          <p:cNvPr id="4" name="Text 2"/>
          <p:cNvSpPr txBox="1"/>
          <p:nvPr/>
        </p:nvSpPr>
        <p:spPr>
          <a:xfrm>
            <a:off x="731520" y="2651760"/>
            <a:ext cx="6949440" cy="548640"/>
          </a:xfrm>
          <a:prstGeom prst="rect">
            <a:avLst/>
          </a:prstGeom>
          <a:noFill/>
          <a:ln/>
        </p:spPr>
        <p:txBody>
          <a:bodyPr wrap="square" lIns="0" tIns="0" rIns="0" bIns="0" rtlCol="0" anchor="ctr"/>
          <a:lstStyle/>
          <a:p>
            <a:pPr indent="0" marL="0">
              <a:buNone/>
            </a:pPr>
            <a:r>
              <a:rPr lang="en-US" sz="2800" b="1" dirty="0">
                <a:solidFill>
                  <a:schemeClr val="accent2"/>
                </a:solidFill>
                <a:latin typeface="Nirmala UI" pitchFamily="34" charset="0"/>
                <a:ea typeface="Nirmala UI" pitchFamily="34" charset="-122"/>
                <a:cs typeface="Nirmala UI" pitchFamily="34" charset="-120"/>
              </a:rPr>
              <a:t>भूमि  </a:t>
            </a:r>
            <a:pPr indent="0" marL="0">
              <a:buNone/>
            </a:pPr>
            <a:r>
              <a:rPr lang="en-US" sz="2800" b="1" dirty="0">
                <a:solidFill>
                  <a:schemeClr val="accent2"/>
                </a:solidFill>
                <a:latin typeface="Nirmala UI" pitchFamily="34" charset="0"/>
                <a:ea typeface="Nirmala UI" pitchFamily="34" charset="-122"/>
                <a:cs typeface="Nirmala UI" pitchFamily="34" charset="-120"/>
              </a:rPr>
              <a:t>காவல்</a:t>
            </a:r>
            <a:pPr indent="0" marL="0">
              <a:buNone/>
            </a:pPr>
            <a:r>
              <a:rPr lang="en-US" sz="1400" dirty="0">
                <a:solidFill>
                  <a:srgbClr val="CFE9E4"/>
                </a:solidFill>
              </a:rPr>
              <a:t>    Bhoomi = land (Sanskrit/Hindi) · Kaaval = guard (Tamil)</a:t>
            </a:r>
            <a:endParaRPr lang="en-US" sz="2800" dirty="0"/>
          </a:p>
        </p:txBody>
      </p:sp>
      <p:sp>
        <p:nvSpPr>
          <p:cNvPr id="5" name="Text 3"/>
          <p:cNvSpPr txBox="1"/>
          <p:nvPr/>
        </p:nvSpPr>
        <p:spPr>
          <a:xfrm>
            <a:off x="731520" y="3383280"/>
            <a:ext cx="6766560" cy="1005840"/>
          </a:xfrm>
          <a:prstGeom prst="rect">
            <a:avLst/>
          </a:prstGeom>
          <a:noFill/>
          <a:ln/>
        </p:spPr>
        <p:txBody>
          <a:bodyPr wrap="square" lIns="0" tIns="0" rIns="0" bIns="0" rtlCol="0" anchor="t"/>
          <a:lstStyle/>
          <a:p>
            <a:pPr indent="0" marL="0">
              <a:buNone/>
            </a:pPr>
            <a:r>
              <a:rPr lang="en-US" sz="2800" b="1" dirty="0">
                <a:solidFill>
                  <a:schemeClr val="bg1"/>
                </a:solidFill>
              </a:rPr>
              <a:t>Check your property papers before you pay.</a:t>
            </a:r>
            <a:endParaRPr lang="en-US" sz="2800" dirty="0"/>
          </a:p>
        </p:txBody>
      </p:sp>
      <p:sp>
        <p:nvSpPr>
          <p:cNvPr id="6" name="Text 4"/>
          <p:cNvSpPr txBox="1"/>
          <p:nvPr/>
        </p:nvSpPr>
        <p:spPr>
          <a:xfrm>
            <a:off x="731520" y="4572000"/>
            <a:ext cx="6583680" cy="914400"/>
          </a:xfrm>
          <a:prstGeom prst="rect">
            <a:avLst/>
          </a:prstGeom>
          <a:noFill/>
          <a:ln/>
        </p:spPr>
        <p:txBody>
          <a:bodyPr wrap="square" lIns="0" tIns="0" rIns="0" bIns="0" rtlCol="0" anchor="t"/>
          <a:lstStyle/>
          <a:p>
            <a:pPr indent="0" marL="0">
              <a:buNone/>
            </a:pPr>
            <a:r>
              <a:rPr lang="en-US" sz="1800" dirty="0">
                <a:solidFill>
                  <a:srgbClr val="CFE9E4"/>
                </a:solidFill>
              </a:rPr>
              <a:t>An AI reader plus fixed rules, with a page and a quote behind every finding. It never certifies title.</a:t>
            </a:r>
            <a:endParaRPr lang="en-US" sz="1800" dirty="0"/>
          </a:p>
        </p:txBody>
      </p:sp>
      <p:sp>
        <p:nvSpPr>
          <p:cNvPr id="7" name="Shape 5"/>
          <p:cNvSpPr/>
          <p:nvPr/>
        </p:nvSpPr>
        <p:spPr>
          <a:xfrm>
            <a:off x="7818120" y="914400"/>
            <a:ext cx="3931920" cy="3931920"/>
          </a:xfrm>
          <a:prstGeom prst="ellipse">
            <a:avLst/>
          </a:prstGeom>
          <a:solidFill>
            <a:srgbClr val="1B5F5A"/>
          </a:solidFill>
          <a:ln w="12700">
            <a:solidFill>
              <a:srgbClr val="1B5F5A"/>
            </a:solidFill>
            <a:prstDash val="solid"/>
          </a:ln>
        </p:spPr>
      </p:sp>
      <p:sp>
        <p:nvSpPr>
          <p:cNvPr id="8" name="Shape 6"/>
          <p:cNvSpPr/>
          <p:nvPr/>
        </p:nvSpPr>
        <p:spPr>
          <a:xfrm>
            <a:off x="8229600" y="1234440"/>
            <a:ext cx="3017520" cy="4160520"/>
          </a:xfrm>
          <a:prstGeom prst="roundRect">
            <a:avLst>
              <a:gd name="adj" fmla="val 3636"/>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8503920" y="1463040"/>
            <a:ext cx="2194560" cy="365760"/>
          </a:xfrm>
          <a:prstGeom prst="rect">
            <a:avLst/>
          </a:prstGeom>
          <a:noFill/>
          <a:ln/>
        </p:spPr>
        <p:txBody>
          <a:bodyPr wrap="square" lIns="0" tIns="0" rIns="0" bIns="0" rtlCol="0" anchor="t"/>
          <a:lstStyle/>
          <a:p>
            <a:pPr indent="0" marL="0">
              <a:buNone/>
            </a:pPr>
            <a:r>
              <a:rPr lang="en-US" sz="1400" b="1" dirty="0">
                <a:solidFill>
                  <a:schemeClr val="accent1"/>
                </a:solidFill>
              </a:rPr>
              <a:t>SALE DEED</a:t>
            </a:r>
            <a:endParaRPr lang="en-US" sz="1400" dirty="0"/>
          </a:p>
        </p:txBody>
      </p:sp>
      <p:sp>
        <p:nvSpPr>
          <p:cNvPr id="10" name="Shape 8"/>
          <p:cNvSpPr/>
          <p:nvPr/>
        </p:nvSpPr>
        <p:spPr>
          <a:xfrm>
            <a:off x="8732520" y="2057400"/>
            <a:ext cx="2011680" cy="1097280"/>
          </a:xfrm>
          <a:prstGeom prst="triangle">
            <a:avLst/>
          </a:prstGeom>
          <a:solidFill>
            <a:schemeClr val="accent2"/>
          </a:solidFill>
          <a:ln w="12700">
            <a:solidFill>
              <a:schemeClr val="accent2"/>
            </a:solidFill>
            <a:prstDash val="solid"/>
          </a:ln>
        </p:spPr>
      </p:sp>
      <p:sp>
        <p:nvSpPr>
          <p:cNvPr id="11" name="Shape 9"/>
          <p:cNvSpPr/>
          <p:nvPr/>
        </p:nvSpPr>
        <p:spPr>
          <a:xfrm>
            <a:off x="9006840" y="3154680"/>
            <a:ext cx="1463040" cy="914400"/>
          </a:xfrm>
          <a:prstGeom prst="rect">
            <a:avLst/>
          </a:prstGeom>
          <a:solidFill>
            <a:srgbClr val="FDE68A"/>
          </a:solidFill>
          <a:ln w="12700">
            <a:solidFill>
              <a:srgbClr val="FDE68A"/>
            </a:solidFill>
            <a:prstDash val="solid"/>
          </a:ln>
        </p:spPr>
      </p:sp>
      <p:sp>
        <p:nvSpPr>
          <p:cNvPr id="12" name="Shape 10"/>
          <p:cNvSpPr/>
          <p:nvPr/>
        </p:nvSpPr>
        <p:spPr>
          <a:xfrm>
            <a:off x="9555480" y="3474720"/>
            <a:ext cx="411480" cy="594360"/>
          </a:xfrm>
          <a:prstGeom prst="rect">
            <a:avLst/>
          </a:prstGeom>
          <a:solidFill>
            <a:srgbClr val="B45309"/>
          </a:solidFill>
          <a:ln w="12700">
            <a:solidFill>
              <a:srgbClr val="B45309"/>
            </a:solidFill>
            <a:prstDash val="solid"/>
          </a:ln>
        </p:spPr>
      </p:sp>
      <p:sp>
        <p:nvSpPr>
          <p:cNvPr id="13" name="Shape 11"/>
          <p:cNvSpPr/>
          <p:nvPr/>
        </p:nvSpPr>
        <p:spPr>
          <a:xfrm>
            <a:off x="8503920" y="4343400"/>
            <a:ext cx="2011680" cy="128016"/>
          </a:xfrm>
          <a:prstGeom prst="roundRect">
            <a:avLst>
              <a:gd name="adj" fmla="val 50000"/>
            </a:avLst>
          </a:prstGeom>
          <a:solidFill>
            <a:srgbClr val="99F6E4"/>
          </a:solidFill>
          <a:ln w="12700">
            <a:solidFill>
              <a:srgbClr val="99F6E4"/>
            </a:solidFill>
            <a:prstDash val="solid"/>
          </a:ln>
        </p:spPr>
      </p:sp>
      <p:sp>
        <p:nvSpPr>
          <p:cNvPr id="14" name="Shape 12"/>
          <p:cNvSpPr/>
          <p:nvPr/>
        </p:nvSpPr>
        <p:spPr>
          <a:xfrm>
            <a:off x="8503920" y="4617720"/>
            <a:ext cx="1463040" cy="128016"/>
          </a:xfrm>
          <a:prstGeom prst="roundRect">
            <a:avLst>
              <a:gd name="adj" fmla="val 50000"/>
            </a:avLst>
          </a:prstGeom>
          <a:solidFill>
            <a:srgbClr val="E5F6F2"/>
          </a:solidFill>
          <a:ln w="12700">
            <a:solidFill>
              <a:srgbClr val="E5F6F2"/>
            </a:solidFill>
            <a:prstDash val="solid"/>
          </a:ln>
        </p:spPr>
      </p:sp>
      <p:sp>
        <p:nvSpPr>
          <p:cNvPr id="15" name="Text 13"/>
          <p:cNvSpPr/>
          <p:nvPr/>
        </p:nvSpPr>
        <p:spPr>
          <a:xfrm>
            <a:off x="10058400" y="3840480"/>
            <a:ext cx="1691640" cy="2011680"/>
          </a:xfrm>
          <a:prstGeom prst="flowChartOffpageConnector">
            <a:avLst/>
          </a:prstGeom>
          <a:solidFill>
            <a:schemeClr val="accent1"/>
          </a:solidFill>
          <a:ln w="50800">
            <a:solidFill>
              <a:schemeClr val="bg1"/>
            </a:solidFill>
          </a:ln>
        </p:spPr>
        <p:txBody>
          <a:bodyPr wrap="square" lIns="0" tIns="0" rIns="0" bIns="0" rtlCol="0" anchor="ctr"/>
          <a:lstStyle/>
          <a:p>
            <a:pPr algn="ctr" indent="0" marL="0">
              <a:buNone/>
            </a:pPr>
            <a:r>
              <a:rPr lang="en-US" sz="5400" b="1" dirty="0">
                <a:solidFill>
                  <a:schemeClr val="bg1"/>
                </a:solidFill>
              </a:rPr>
              <a:t>✓</a:t>
            </a:r>
            <a:endParaRPr lang="en-US" sz="5400" dirty="0"/>
          </a:p>
        </p:txBody>
      </p:sp>
      <p:sp>
        <p:nvSpPr>
          <p:cNvPr id="16" name="Shape 14"/>
          <p:cNvSpPr/>
          <p:nvPr/>
        </p:nvSpPr>
        <p:spPr>
          <a:xfrm>
            <a:off x="8001000" y="1234440"/>
            <a:ext cx="146304" cy="146304"/>
          </a:xfrm>
          <a:prstGeom prst="ellipse">
            <a:avLst/>
          </a:prstGeom>
          <a:solidFill>
            <a:schemeClr val="accent2"/>
          </a:solidFill>
          <a:ln w="12700">
            <a:solidFill>
              <a:schemeClr val="accent2"/>
            </a:solidFill>
            <a:prstDash val="solid"/>
          </a:ln>
        </p:spPr>
      </p:sp>
      <p:sp>
        <p:nvSpPr>
          <p:cNvPr id="17" name="Shape 15"/>
          <p:cNvSpPr/>
          <p:nvPr/>
        </p:nvSpPr>
        <p:spPr>
          <a:xfrm>
            <a:off x="11567160" y="1051560"/>
            <a:ext cx="109728" cy="109728"/>
          </a:xfrm>
          <a:prstGeom prst="ellipse">
            <a:avLst/>
          </a:prstGeom>
          <a:solidFill>
            <a:schemeClr val="accent2"/>
          </a:solidFill>
          <a:ln w="12700">
            <a:solidFill>
              <a:schemeClr val="accent2"/>
            </a:solidFill>
            <a:prstDash val="solid"/>
          </a:ln>
        </p:spPr>
      </p:sp>
      <p:sp>
        <p:nvSpPr>
          <p:cNvPr id="18" name="Shape 16"/>
          <p:cNvSpPr/>
          <p:nvPr/>
        </p:nvSpPr>
        <p:spPr>
          <a:xfrm>
            <a:off x="7818120" y="5029200"/>
            <a:ext cx="109728" cy="109728"/>
          </a:xfrm>
          <a:prstGeom prst="ellipse">
            <a:avLst/>
          </a:prstGeom>
          <a:solidFill>
            <a:schemeClr val="accent2"/>
          </a:solidFill>
          <a:ln w="1270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India registers deeds, not title</a:t>
            </a:r>
            <a:endParaRPr lang="en-US" sz="3600" dirty="0"/>
          </a:p>
        </p:txBody>
      </p:sp>
      <p:sp>
        <p:nvSpPr>
          <p:cNvPr id="3" name="Shape 1"/>
          <p:cNvSpPr/>
          <p:nvPr/>
        </p:nvSpPr>
        <p:spPr>
          <a:xfrm>
            <a:off x="548640" y="1600200"/>
            <a:ext cx="3520440" cy="3291840"/>
          </a:xfrm>
          <a:prstGeom prst="roundRect">
            <a:avLst>
              <a:gd name="adj" fmla="val 3333"/>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822960" y="1783080"/>
            <a:ext cx="566928" cy="566928"/>
          </a:xfrm>
          <a:prstGeom prst="ellipse">
            <a:avLst/>
          </a:prstGeom>
          <a:solidFill>
            <a:schemeClr val="accent1"/>
          </a:solidFill>
          <a:ln w="12700">
            <a:solidFill>
              <a:schemeClr val="accent1"/>
            </a:solidFill>
            <a:prstDash val="solid"/>
          </a:ln>
        </p:spPr>
      </p:sp>
      <p:pic>
        <p:nvPicPr>
          <p:cNvPr id="5" name="Image 0" descr="FileSignature">    </p:cNvPr>
          <p:cNvPicPr>
            <a:picLocks noChangeAspect="1"/>
          </p:cNvPicPr>
          <p:nvPr/>
        </p:nvPicPr>
        <p:blipFill>
          <a:blip r:embed="rId1"/>
          <a:stretch>
            <a:fillRect/>
          </a:stretch>
        </p:blipFill>
        <p:spPr>
          <a:xfrm>
            <a:off x="964692" y="1924812"/>
            <a:ext cx="283464" cy="283464"/>
          </a:xfrm>
          <a:prstGeom prst="rect">
            <a:avLst/>
          </a:prstGeom>
        </p:spPr>
      </p:pic>
      <p:sp>
        <p:nvSpPr>
          <p:cNvPr id="6" name="Text 3"/>
          <p:cNvSpPr txBox="1"/>
          <p:nvPr/>
        </p:nvSpPr>
        <p:spPr>
          <a:xfrm>
            <a:off x="822960" y="2377440"/>
            <a:ext cx="2971800" cy="777240"/>
          </a:xfrm>
          <a:prstGeom prst="rect">
            <a:avLst/>
          </a:prstGeom>
          <a:noFill/>
          <a:ln/>
        </p:spPr>
        <p:txBody>
          <a:bodyPr wrap="square" lIns="0" tIns="0" rIns="0" bIns="0" rtlCol="0" anchor="t"/>
          <a:lstStyle/>
          <a:p>
            <a:pPr indent="0" marL="0">
              <a:buNone/>
            </a:pPr>
            <a:r>
              <a:rPr lang="en-US" sz="2000" b="1" dirty="0">
                <a:solidFill>
                  <a:schemeClr val="tx2"/>
                </a:solidFill>
              </a:rPr>
              <a:t>Registration is not title</a:t>
            </a:r>
            <a:endParaRPr lang="en-US" sz="2000" dirty="0"/>
          </a:p>
        </p:txBody>
      </p:sp>
      <p:sp>
        <p:nvSpPr>
          <p:cNvPr id="7" name="Text 4"/>
          <p:cNvSpPr txBox="1"/>
          <p:nvPr/>
        </p:nvSpPr>
        <p:spPr>
          <a:xfrm>
            <a:off x="822960" y="3200400"/>
            <a:ext cx="2971800" cy="1645920"/>
          </a:xfrm>
          <a:prstGeom prst="rect">
            <a:avLst/>
          </a:prstGeom>
          <a:noFill/>
          <a:ln/>
        </p:spPr>
        <p:txBody>
          <a:bodyPr wrap="square" lIns="0" tIns="0" rIns="0" bIns="0" rtlCol="0" anchor="t"/>
          <a:lstStyle/>
          <a:p>
            <a:pPr indent="0" marL="0">
              <a:buNone/>
            </a:pPr>
            <a:r>
              <a:rPr lang="en-US" sz="1600" dirty="0">
                <a:solidFill>
                  <a:schemeClr val="tx1"/>
                </a:solidFill>
              </a:rPr>
              <a:t>Registering a deed records that it was presented and executed. It does not prove the seller owns the land, and registering officers cannot decide title.</a:t>
            </a:r>
            <a:endParaRPr lang="en-US" sz="1600" dirty="0"/>
          </a:p>
        </p:txBody>
      </p:sp>
      <p:sp>
        <p:nvSpPr>
          <p:cNvPr id="8" name="Shape 5"/>
          <p:cNvSpPr/>
          <p:nvPr/>
        </p:nvSpPr>
        <p:spPr>
          <a:xfrm>
            <a:off x="4335628" y="1600200"/>
            <a:ext cx="3520440" cy="3291840"/>
          </a:xfrm>
          <a:prstGeom prst="roundRect">
            <a:avLst>
              <a:gd name="adj" fmla="val 3333"/>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609948" y="1783080"/>
            <a:ext cx="566928" cy="566928"/>
          </a:xfrm>
          <a:prstGeom prst="ellipse">
            <a:avLst/>
          </a:prstGeom>
          <a:solidFill>
            <a:schemeClr val="accent1"/>
          </a:solidFill>
          <a:ln w="12700">
            <a:solidFill>
              <a:schemeClr val="accent1"/>
            </a:solidFill>
            <a:prstDash val="solid"/>
          </a:ln>
        </p:spPr>
      </p:sp>
      <p:pic>
        <p:nvPicPr>
          <p:cNvPr id="10" name="Image 1" descr="MagnifyingGlassChart">    </p:cNvPr>
          <p:cNvPicPr>
            <a:picLocks noChangeAspect="1"/>
          </p:cNvPicPr>
          <p:nvPr/>
        </p:nvPicPr>
        <p:blipFill>
          <a:blip r:embed="rId2"/>
          <a:stretch>
            <a:fillRect/>
          </a:stretch>
        </p:blipFill>
        <p:spPr>
          <a:xfrm>
            <a:off x="4751680" y="1924812"/>
            <a:ext cx="283464" cy="283464"/>
          </a:xfrm>
          <a:prstGeom prst="rect">
            <a:avLst/>
          </a:prstGeom>
        </p:spPr>
      </p:pic>
      <p:sp>
        <p:nvSpPr>
          <p:cNvPr id="11" name="Text 7"/>
          <p:cNvSpPr txBox="1"/>
          <p:nvPr/>
        </p:nvSpPr>
        <p:spPr>
          <a:xfrm>
            <a:off x="4609948" y="2377440"/>
            <a:ext cx="2971800" cy="777240"/>
          </a:xfrm>
          <a:prstGeom prst="rect">
            <a:avLst/>
          </a:prstGeom>
          <a:noFill/>
          <a:ln/>
        </p:spPr>
        <p:txBody>
          <a:bodyPr wrap="square" lIns="0" tIns="0" rIns="0" bIns="0" rtlCol="0" anchor="t"/>
          <a:lstStyle/>
          <a:p>
            <a:pPr indent="0" marL="0">
              <a:buNone/>
            </a:pPr>
            <a:r>
              <a:rPr lang="en-US" sz="2000" b="1" dirty="0">
                <a:solidFill>
                  <a:schemeClr val="tx2"/>
                </a:solidFill>
              </a:rPr>
              <a:t>Risk hides in the papers</a:t>
            </a:r>
            <a:endParaRPr lang="en-US" sz="2000" dirty="0"/>
          </a:p>
        </p:txBody>
      </p:sp>
      <p:sp>
        <p:nvSpPr>
          <p:cNvPr id="12" name="Text 8"/>
          <p:cNvSpPr txBox="1"/>
          <p:nvPr/>
        </p:nvSpPr>
        <p:spPr>
          <a:xfrm>
            <a:off x="4609948" y="3200400"/>
            <a:ext cx="2971800" cy="1645920"/>
          </a:xfrm>
          <a:prstGeom prst="rect">
            <a:avLst/>
          </a:prstGeom>
          <a:noFill/>
          <a:ln/>
        </p:spPr>
        <p:txBody>
          <a:bodyPr wrap="square" lIns="0" tIns="0" rIns="0" bIns="0" rtlCol="0" anchor="t"/>
          <a:lstStyle/>
          <a:p>
            <a:pPr indent="0" marL="0">
              <a:buNone/>
            </a:pPr>
            <a:r>
              <a:rPr lang="en-US" sz="1600" dirty="0">
                <a:solidFill>
                  <a:schemeClr val="tx1"/>
                </a:solidFill>
              </a:rPr>
              <a:t>A broken ownership chain, a second sale of the same plot, an area that does not add up: all buried in scanned deeds, in several languages.</a:t>
            </a:r>
            <a:endParaRPr lang="en-US" sz="1600" dirty="0"/>
          </a:p>
        </p:txBody>
      </p:sp>
      <p:sp>
        <p:nvSpPr>
          <p:cNvPr id="13" name="Shape 9"/>
          <p:cNvSpPr/>
          <p:nvPr/>
        </p:nvSpPr>
        <p:spPr>
          <a:xfrm>
            <a:off x="8122615" y="1600200"/>
            <a:ext cx="3520440" cy="3291840"/>
          </a:xfrm>
          <a:prstGeom prst="roundRect">
            <a:avLst>
              <a:gd name="adj" fmla="val 3333"/>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8396935" y="1783080"/>
            <a:ext cx="566928" cy="566928"/>
          </a:xfrm>
          <a:prstGeom prst="ellipse">
            <a:avLst/>
          </a:prstGeom>
          <a:solidFill>
            <a:schemeClr val="accent1"/>
          </a:solidFill>
          <a:ln w="12700">
            <a:solidFill>
              <a:schemeClr val="accent1"/>
            </a:solidFill>
            <a:prstDash val="solid"/>
          </a:ln>
        </p:spPr>
      </p:sp>
      <p:pic>
        <p:nvPicPr>
          <p:cNvPr id="15" name="Image 2" descr="ClockRotateLeft">    </p:cNvPr>
          <p:cNvPicPr>
            <a:picLocks noChangeAspect="1"/>
          </p:cNvPicPr>
          <p:nvPr/>
        </p:nvPicPr>
        <p:blipFill>
          <a:blip r:embed="rId3"/>
          <a:stretch>
            <a:fillRect/>
          </a:stretch>
        </p:blipFill>
        <p:spPr>
          <a:xfrm>
            <a:off x="8538667" y="1924812"/>
            <a:ext cx="283464" cy="283464"/>
          </a:xfrm>
          <a:prstGeom prst="rect">
            <a:avLst/>
          </a:prstGeom>
        </p:spPr>
      </p:pic>
      <p:sp>
        <p:nvSpPr>
          <p:cNvPr id="16" name="Text 11"/>
          <p:cNvSpPr txBox="1"/>
          <p:nvPr/>
        </p:nvSpPr>
        <p:spPr>
          <a:xfrm>
            <a:off x="8396935" y="2377440"/>
            <a:ext cx="2971800" cy="777240"/>
          </a:xfrm>
          <a:prstGeom prst="rect">
            <a:avLst/>
          </a:prstGeom>
          <a:noFill/>
          <a:ln/>
        </p:spPr>
        <p:txBody>
          <a:bodyPr wrap="square" lIns="0" tIns="0" rIns="0" bIns="0" rtlCol="0" anchor="t"/>
          <a:lstStyle/>
          <a:p>
            <a:pPr indent="0" marL="0">
              <a:buNone/>
            </a:pPr>
            <a:r>
              <a:rPr lang="en-US" sz="2000" b="1" dirty="0">
                <a:solidFill>
                  <a:schemeClr val="tx2"/>
                </a:solidFill>
              </a:rPr>
              <a:t>No record of what was seen</a:t>
            </a:r>
            <a:endParaRPr lang="en-US" sz="2000" dirty="0"/>
          </a:p>
        </p:txBody>
      </p:sp>
      <p:sp>
        <p:nvSpPr>
          <p:cNvPr id="17" name="Text 12"/>
          <p:cNvSpPr txBox="1"/>
          <p:nvPr/>
        </p:nvSpPr>
        <p:spPr>
          <a:xfrm>
            <a:off x="8396935" y="3200400"/>
            <a:ext cx="2971800" cy="1645920"/>
          </a:xfrm>
          <a:prstGeom prst="rect">
            <a:avLst/>
          </a:prstGeom>
          <a:noFill/>
          <a:ln/>
        </p:spPr>
        <p:txBody>
          <a:bodyPr wrap="square" lIns="0" tIns="0" rIns="0" bIns="0" rtlCol="0" anchor="t"/>
          <a:lstStyle/>
          <a:p>
            <a:pPr indent="0" marL="0">
              <a:buNone/>
            </a:pPr>
            <a:r>
              <a:rPr lang="en-US" sz="1600" dirty="0">
                <a:solidFill>
                  <a:schemeClr val="tx1"/>
                </a:solidFill>
              </a:rPr>
              <a:t>When a dispute follows, there is no structured record of which risks were visible at the moment of registration.</a:t>
            </a:r>
            <a:endParaRPr lang="en-US" sz="1600" dirty="0"/>
          </a:p>
        </p:txBody>
      </p:sp>
      <p:sp>
        <p:nvSpPr>
          <p:cNvPr id="18" name="Shape 13"/>
          <p:cNvSpPr/>
          <p:nvPr/>
        </p:nvSpPr>
        <p:spPr>
          <a:xfrm>
            <a:off x="548640" y="5212080"/>
            <a:ext cx="11094415" cy="868680"/>
          </a:xfrm>
          <a:prstGeom prst="roundRect">
            <a:avLst>
              <a:gd name="adj" fmla="val 12632"/>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822960" y="5212080"/>
            <a:ext cx="10545775" cy="868680"/>
          </a:xfrm>
          <a:prstGeom prst="rect">
            <a:avLst/>
          </a:prstGeom>
          <a:noFill/>
          <a:ln/>
        </p:spPr>
        <p:txBody>
          <a:bodyPr wrap="square" lIns="0" tIns="0" rIns="0" bIns="0" rtlCol="0" anchor="ctr"/>
          <a:lstStyle/>
          <a:p>
            <a:pPr indent="0" marL="0">
              <a:buNone/>
            </a:pPr>
            <a:r>
              <a:rPr lang="en-US" sz="2200" b="1" dirty="0">
                <a:solidFill>
                  <a:schemeClr val="bg1"/>
                </a:solidFill>
              </a:rPr>
              <a:t>The result: preventable property disputes, for buyers and for honest officers.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One engine, two faces</a:t>
            </a:r>
            <a:endParaRPr lang="en-US" sz="3600" dirty="0"/>
          </a:p>
        </p:txBody>
      </p:sp>
      <p:sp>
        <p:nvSpPr>
          <p:cNvPr id="3" name="Shape 1"/>
          <p:cNvSpPr/>
          <p:nvPr/>
        </p:nvSpPr>
        <p:spPr>
          <a:xfrm>
            <a:off x="548640" y="1554480"/>
            <a:ext cx="11094415" cy="960120"/>
          </a:xfrm>
          <a:prstGeom prst="roundRect">
            <a:avLst>
              <a:gd name="adj" fmla="val 11429"/>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554480"/>
            <a:ext cx="10545775" cy="960120"/>
          </a:xfrm>
          <a:prstGeom prst="rect">
            <a:avLst/>
          </a:prstGeom>
          <a:noFill/>
          <a:ln/>
        </p:spPr>
        <p:txBody>
          <a:bodyPr wrap="square" lIns="0" tIns="0" rIns="0" bIns="0" rtlCol="0" anchor="ctr"/>
          <a:lstStyle/>
          <a:p>
            <a:pPr indent="0" marL="0">
              <a:buNone/>
            </a:pPr>
            <a:r>
              <a:rPr lang="en-US" sz="2000" b="1" dirty="0">
                <a:solidFill>
                  <a:schemeClr val="bg1"/>
                </a:solidFill>
              </a:rPr>
              <a:t>Core engine:  deed bundle  →  structured fields  →  fixed rules  →  findings with evidence</a:t>
            </a:r>
            <a:endParaRPr lang="en-US" sz="2000" dirty="0"/>
          </a:p>
        </p:txBody>
      </p:sp>
      <p:sp>
        <p:nvSpPr>
          <p:cNvPr id="5" name="Shape 3"/>
          <p:cNvSpPr/>
          <p:nvPr/>
        </p:nvSpPr>
        <p:spPr>
          <a:xfrm>
            <a:off x="548640" y="2697480"/>
            <a:ext cx="5364328" cy="2743200"/>
          </a:xfrm>
          <a:prstGeom prst="roundRect">
            <a:avLst>
              <a:gd name="adj" fmla="val 4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822960" y="2834640"/>
            <a:ext cx="548640" cy="548640"/>
          </a:xfrm>
          <a:prstGeom prst="ellipse">
            <a:avLst/>
          </a:prstGeom>
          <a:solidFill>
            <a:schemeClr val="accent1"/>
          </a:solidFill>
          <a:ln w="12700">
            <a:solidFill>
              <a:schemeClr val="accent1"/>
            </a:solidFill>
            <a:prstDash val="solid"/>
          </a:ln>
        </p:spPr>
      </p:sp>
      <p:pic>
        <p:nvPicPr>
          <p:cNvPr id="7" name="Image 0" descr="User">    </p:cNvPr>
          <p:cNvPicPr>
            <a:picLocks noChangeAspect="1"/>
          </p:cNvPicPr>
          <p:nvPr/>
        </p:nvPicPr>
        <p:blipFill>
          <a:blip r:embed="rId1"/>
          <a:stretch>
            <a:fillRect/>
          </a:stretch>
        </p:blipFill>
        <p:spPr>
          <a:xfrm>
            <a:off x="960120" y="2971800"/>
            <a:ext cx="274320" cy="274320"/>
          </a:xfrm>
          <a:prstGeom prst="rect">
            <a:avLst/>
          </a:prstGeom>
        </p:spPr>
      </p:pic>
      <p:sp>
        <p:nvSpPr>
          <p:cNvPr id="8" name="Text 5"/>
          <p:cNvSpPr txBox="1"/>
          <p:nvPr/>
        </p:nvSpPr>
        <p:spPr>
          <a:xfrm>
            <a:off x="1508760" y="2880360"/>
            <a:ext cx="4175608" cy="457200"/>
          </a:xfrm>
          <a:prstGeom prst="rect">
            <a:avLst/>
          </a:prstGeom>
          <a:noFill/>
          <a:ln/>
        </p:spPr>
        <p:txBody>
          <a:bodyPr wrap="square" lIns="0" tIns="0" rIns="0" bIns="0" rtlCol="0" anchor="ctr"/>
          <a:lstStyle/>
          <a:p>
            <a:pPr indent="0" marL="0">
              <a:buNone/>
            </a:pPr>
            <a:r>
              <a:rPr lang="en-US" sz="2000" b="1" dirty="0">
                <a:solidFill>
                  <a:schemeClr val="tx2"/>
                </a:solidFill>
              </a:rPr>
              <a:t>Citizen: Check my documents</a:t>
            </a:r>
            <a:endParaRPr lang="en-US" sz="2000" dirty="0"/>
          </a:p>
        </p:txBody>
      </p:sp>
      <p:sp>
        <p:nvSpPr>
          <p:cNvPr id="9" name="Text 6"/>
          <p:cNvSpPr txBox="1"/>
          <p:nvPr/>
        </p:nvSpPr>
        <p:spPr>
          <a:xfrm>
            <a:off x="822960" y="3520440"/>
            <a:ext cx="4815688" cy="1828800"/>
          </a:xfrm>
          <a:prstGeom prst="rect">
            <a:avLst/>
          </a:prstGeom>
          <a:noFill/>
          <a:ln/>
        </p:spPr>
        <p:txBody>
          <a:bodyPr wrap="square" lIns="635" tIns="635" rIns="635" bIns="635" rtlCol="0" anchor="t"/>
          <a:lstStyle/>
          <a:p>
            <a:pPr marL="177800" indent="-177800">
              <a:spcAft>
                <a:spcPts val="600"/>
              </a:spcAft>
              <a:buSzPct val="100000"/>
              <a:buChar char="•"/>
            </a:pPr>
            <a:r>
              <a:rPr lang="en-US" sz="1600" dirty="0">
                <a:solidFill>
                  <a:schemeClr val="tx1"/>
                </a:solidFill>
              </a:rPr>
              <a:t>Pick or upload deeds: PDF, scan or phone photo, English or Hindi</a:t>
            </a:r>
            <a:endParaRPr lang="en-US" sz="1600" dirty="0"/>
          </a:p>
          <a:p>
            <a:pPr marL="177800" indent="-177800">
              <a:spcAft>
                <a:spcPts val="600"/>
              </a:spcAft>
              <a:buSzPct val="100000"/>
              <a:buChar char="•"/>
            </a:pPr>
            <a:r>
              <a:rPr lang="en-US" sz="1600" dirty="0">
                <a:solidFill>
                  <a:schemeClr val="tx1"/>
                </a:solidFill>
              </a:rPr>
              <a:t>See every finding with its page and quote</a:t>
            </a:r>
            <a:endParaRPr lang="en-US" sz="1600" dirty="0"/>
          </a:p>
          <a:p>
            <a:pPr marL="177800" indent="-177800">
              <a:spcAft>
                <a:spcPts val="600"/>
              </a:spcAft>
              <a:buSzPct val="100000"/>
              <a:buChar char="•"/>
            </a:pPr>
            <a:r>
              <a:rPr lang="en-US" sz="1600" dirty="0">
                <a:solidFill>
                  <a:schemeClr val="tx1"/>
                </a:solidFill>
              </a:rPr>
              <a:t>Get an ask-your-seller list and an advocate brief</a:t>
            </a:r>
            <a:endParaRPr lang="en-US" sz="1600" dirty="0"/>
          </a:p>
        </p:txBody>
      </p:sp>
      <p:sp>
        <p:nvSpPr>
          <p:cNvPr id="10" name="Shape 7"/>
          <p:cNvSpPr/>
          <p:nvPr/>
        </p:nvSpPr>
        <p:spPr>
          <a:xfrm>
            <a:off x="6278728" y="2697480"/>
            <a:ext cx="5364328" cy="2743200"/>
          </a:xfrm>
          <a:prstGeom prst="roundRect">
            <a:avLst>
              <a:gd name="adj" fmla="val 4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6553048" y="2834640"/>
            <a:ext cx="548640" cy="548640"/>
          </a:xfrm>
          <a:prstGeom prst="ellipse">
            <a:avLst/>
          </a:prstGeom>
          <a:solidFill>
            <a:schemeClr val="accent4"/>
          </a:solidFill>
          <a:ln w="12700">
            <a:solidFill>
              <a:schemeClr val="accent4"/>
            </a:solidFill>
            <a:prstDash val="solid"/>
          </a:ln>
        </p:spPr>
      </p:sp>
      <p:pic>
        <p:nvPicPr>
          <p:cNvPr id="12" name="Image 1" descr="Landmark">    </p:cNvPr>
          <p:cNvPicPr>
            <a:picLocks noChangeAspect="1"/>
          </p:cNvPicPr>
          <p:nvPr/>
        </p:nvPicPr>
        <p:blipFill>
          <a:blip r:embed="rId2"/>
          <a:stretch>
            <a:fillRect/>
          </a:stretch>
        </p:blipFill>
        <p:spPr>
          <a:xfrm>
            <a:off x="6690208" y="2971800"/>
            <a:ext cx="274320" cy="274320"/>
          </a:xfrm>
          <a:prstGeom prst="rect">
            <a:avLst/>
          </a:prstGeom>
        </p:spPr>
      </p:pic>
      <p:sp>
        <p:nvSpPr>
          <p:cNvPr id="13" name="Text 9"/>
          <p:cNvSpPr txBox="1"/>
          <p:nvPr/>
        </p:nvSpPr>
        <p:spPr>
          <a:xfrm>
            <a:off x="7238848" y="2880360"/>
            <a:ext cx="4175608" cy="457200"/>
          </a:xfrm>
          <a:prstGeom prst="rect">
            <a:avLst/>
          </a:prstGeom>
          <a:noFill/>
          <a:ln/>
        </p:spPr>
        <p:txBody>
          <a:bodyPr wrap="square" lIns="0" tIns="0" rIns="0" bIns="0" rtlCol="0" anchor="ctr"/>
          <a:lstStyle/>
          <a:p>
            <a:pPr indent="0" marL="0">
              <a:buNone/>
            </a:pPr>
            <a:r>
              <a:rPr lang="en-US" sz="2000" b="1" dirty="0">
                <a:solidFill>
                  <a:schemeClr val="tx2"/>
                </a:solidFill>
              </a:rPr>
              <a:t>Sub-Registrar: Officer console</a:t>
            </a:r>
            <a:endParaRPr lang="en-US" sz="2000" dirty="0"/>
          </a:p>
        </p:txBody>
      </p:sp>
      <p:sp>
        <p:nvSpPr>
          <p:cNvPr id="14" name="Text 10"/>
          <p:cNvSpPr txBox="1"/>
          <p:nvPr/>
        </p:nvSpPr>
        <p:spPr>
          <a:xfrm>
            <a:off x="6553048" y="3520440"/>
            <a:ext cx="4815688" cy="1828800"/>
          </a:xfrm>
          <a:prstGeom prst="rect">
            <a:avLst/>
          </a:prstGeom>
          <a:noFill/>
          <a:ln/>
        </p:spPr>
        <p:txBody>
          <a:bodyPr wrap="square" lIns="635" tIns="635" rIns="635" bIns="635" rtlCol="0" anchor="t"/>
          <a:lstStyle/>
          <a:p>
            <a:pPr marL="177800" indent="-177800">
              <a:spcAft>
                <a:spcPts val="600"/>
              </a:spcAft>
              <a:buSzPct val="100000"/>
              <a:buChar char="•"/>
            </a:pPr>
            <a:r>
              <a:rPr lang="en-US" sz="1600" dirty="0">
                <a:solidFill>
                  <a:schemeClr val="tx1"/>
                </a:solidFill>
              </a:rPr>
              <a:t>Record a disposition and a reason for every flag</a:t>
            </a:r>
            <a:endParaRPr lang="en-US" sz="1600" dirty="0"/>
          </a:p>
          <a:p>
            <a:pPr marL="177800" indent="-177800">
              <a:spcAft>
                <a:spcPts val="600"/>
              </a:spcAft>
              <a:buSzPct val="100000"/>
              <a:buChar char="•"/>
            </a:pPr>
            <a:r>
              <a:rPr lang="en-US" sz="1600" dirty="0">
                <a:solidFill>
                  <a:schemeClr val="tx1"/>
                </a:solidFill>
              </a:rPr>
              <a:t>Class B advisories can never be a refusal ground</a:t>
            </a:r>
            <a:endParaRPr lang="en-US" sz="1600" dirty="0"/>
          </a:p>
          <a:p>
            <a:pPr marL="177800" indent="-177800">
              <a:spcAft>
                <a:spcPts val="600"/>
              </a:spcAft>
              <a:buSzPct val="100000"/>
              <a:buChar char="•"/>
            </a:pPr>
            <a:r>
              <a:rPr lang="en-US" sz="1600" dirty="0">
                <a:solidFill>
                  <a:schemeClr val="tx1"/>
                </a:solidFill>
              </a:rPr>
              <a:t>The decision is signed into a tamper-evident log</a:t>
            </a:r>
            <a:endParaRPr lang="en-US" sz="1600" dirty="0"/>
          </a:p>
        </p:txBody>
      </p:sp>
      <p:sp>
        <p:nvSpPr>
          <p:cNvPr id="15" name="Shape 11"/>
          <p:cNvSpPr/>
          <p:nvPr/>
        </p:nvSpPr>
        <p:spPr>
          <a:xfrm>
            <a:off x="548640" y="5577840"/>
            <a:ext cx="11094415" cy="685800"/>
          </a:xfrm>
          <a:prstGeom prst="roundRect">
            <a:avLst>
              <a:gd name="adj" fmla="val 16000"/>
            </a:avLst>
          </a:prstGeom>
          <a:solidFill>
            <a:srgbClr val="FFF3D1"/>
          </a:solidFill>
          <a:ln w="12700">
            <a:solidFill>
              <a:srgbClr val="FCD34D"/>
            </a:solidFill>
            <a:prstDash val="solid"/>
          </a:ln>
        </p:spPr>
      </p:sp>
      <p:sp>
        <p:nvSpPr>
          <p:cNvPr id="16" name="Text 12"/>
          <p:cNvSpPr txBox="1"/>
          <p:nvPr/>
        </p:nvSpPr>
        <p:spPr>
          <a:xfrm>
            <a:off x="822960" y="5577840"/>
            <a:ext cx="10545775" cy="685800"/>
          </a:xfrm>
          <a:prstGeom prst="rect">
            <a:avLst/>
          </a:prstGeom>
          <a:noFill/>
          <a:ln/>
        </p:spPr>
        <p:txBody>
          <a:bodyPr wrap="square" lIns="0" tIns="0" rIns="0" bIns="0" rtlCol="0" anchor="ctr"/>
          <a:lstStyle/>
          <a:p>
            <a:pPr indent="0" marL="0">
              <a:buNone/>
            </a:pPr>
            <a:r>
              <a:rPr lang="en-US" sz="1700" b="1" dirty="0">
                <a:solidFill>
                  <a:srgbClr val="7C4A03"/>
                </a:solidFill>
              </a:rPr>
              <a:t>Design rule: the AI only reads. Fixed, explainable rules decide. Legal wording never comes from free AI text.</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How it works, end to end</a:t>
            </a:r>
            <a:endParaRPr lang="en-US" sz="3600" dirty="0"/>
          </a:p>
        </p:txBody>
      </p:sp>
      <p:sp>
        <p:nvSpPr>
          <p:cNvPr id="3" name="Shape 1"/>
          <p:cNvSpPr/>
          <p:nvPr/>
        </p:nvSpPr>
        <p:spPr>
          <a:xfrm>
            <a:off x="548640"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58368" y="1755648"/>
            <a:ext cx="512064" cy="512064"/>
          </a:xfrm>
          <a:prstGeom prst="ellipse">
            <a:avLst/>
          </a:prstGeom>
          <a:solidFill>
            <a:schemeClr val="accent1"/>
          </a:solidFill>
          <a:ln w="12700">
            <a:solidFill>
              <a:schemeClr val="accent1"/>
            </a:solidFill>
            <a:prstDash val="solid"/>
          </a:ln>
        </p:spPr>
      </p:sp>
      <p:pic>
        <p:nvPicPr>
          <p:cNvPr id="5" name="Image 0" descr="FileArrowUp">    </p:cNvPr>
          <p:cNvPicPr>
            <a:picLocks noChangeAspect="1"/>
          </p:cNvPicPr>
          <p:nvPr/>
        </p:nvPicPr>
        <p:blipFill>
          <a:blip r:embed="rId1"/>
          <a:stretch>
            <a:fillRect/>
          </a:stretch>
        </p:blipFill>
        <p:spPr>
          <a:xfrm>
            <a:off x="786384" y="1883664"/>
            <a:ext cx="256032" cy="256032"/>
          </a:xfrm>
          <a:prstGeom prst="rect">
            <a:avLst/>
          </a:prstGeom>
        </p:spPr>
      </p:pic>
      <p:sp>
        <p:nvSpPr>
          <p:cNvPr id="6" name="Text 3"/>
          <p:cNvSpPr txBox="1"/>
          <p:nvPr/>
        </p:nvSpPr>
        <p:spPr>
          <a:xfrm>
            <a:off x="621792"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Upload</a:t>
            </a:r>
            <a:endParaRPr lang="en-US" sz="1400" dirty="0"/>
          </a:p>
        </p:txBody>
      </p:sp>
      <p:sp>
        <p:nvSpPr>
          <p:cNvPr id="7" name="Text 4"/>
          <p:cNvSpPr txBox="1"/>
          <p:nvPr/>
        </p:nvSpPr>
        <p:spPr>
          <a:xfrm>
            <a:off x="621792"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PDF, scan or photo; SHA-256 of the original file</a:t>
            </a:r>
            <a:endParaRPr lang="en-US" sz="1200" dirty="0"/>
          </a:p>
        </p:txBody>
      </p:sp>
      <p:sp>
        <p:nvSpPr>
          <p:cNvPr id="8" name="Shape 5"/>
          <p:cNvSpPr/>
          <p:nvPr/>
        </p:nvSpPr>
        <p:spPr>
          <a:xfrm>
            <a:off x="1984248" y="2743200"/>
            <a:ext cx="166573" cy="274320"/>
          </a:xfrm>
          <a:prstGeom prst="rightArrow">
            <a:avLst/>
          </a:prstGeom>
          <a:solidFill>
            <a:schemeClr val="accent2"/>
          </a:solidFill>
          <a:ln w="12700">
            <a:solidFill>
              <a:schemeClr val="accent2"/>
            </a:solidFill>
            <a:prstDash val="solid"/>
          </a:ln>
        </p:spPr>
      </p:sp>
      <p:sp>
        <p:nvSpPr>
          <p:cNvPr id="9" name="Shape 6"/>
          <p:cNvSpPr/>
          <p:nvPr/>
        </p:nvSpPr>
        <p:spPr>
          <a:xfrm>
            <a:off x="2159965"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2269693" y="1755648"/>
            <a:ext cx="512064" cy="512064"/>
          </a:xfrm>
          <a:prstGeom prst="ellipse">
            <a:avLst/>
          </a:prstGeom>
          <a:solidFill>
            <a:schemeClr val="accent1"/>
          </a:solidFill>
          <a:ln w="12700">
            <a:solidFill>
              <a:schemeClr val="accent1"/>
            </a:solidFill>
            <a:prstDash val="solid"/>
          </a:ln>
        </p:spPr>
      </p:sp>
      <p:pic>
        <p:nvPicPr>
          <p:cNvPr id="11" name="Image 1" descr="UserSecret">    </p:cNvPr>
          <p:cNvPicPr>
            <a:picLocks noChangeAspect="1"/>
          </p:cNvPicPr>
          <p:nvPr/>
        </p:nvPicPr>
        <p:blipFill>
          <a:blip r:embed="rId2"/>
          <a:stretch>
            <a:fillRect/>
          </a:stretch>
        </p:blipFill>
        <p:spPr>
          <a:xfrm>
            <a:off x="2397709" y="1883664"/>
            <a:ext cx="256032" cy="256032"/>
          </a:xfrm>
          <a:prstGeom prst="rect">
            <a:avLst/>
          </a:prstGeom>
        </p:spPr>
      </p:pic>
      <p:sp>
        <p:nvSpPr>
          <p:cNvPr id="12" name="Text 8"/>
          <p:cNvSpPr txBox="1"/>
          <p:nvPr/>
        </p:nvSpPr>
        <p:spPr>
          <a:xfrm>
            <a:off x="2233117"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Redact</a:t>
            </a:r>
            <a:endParaRPr lang="en-US" sz="1400" dirty="0"/>
          </a:p>
        </p:txBody>
      </p:sp>
      <p:sp>
        <p:nvSpPr>
          <p:cNvPr id="13" name="Text 9"/>
          <p:cNvSpPr txBox="1"/>
          <p:nvPr/>
        </p:nvSpPr>
        <p:spPr>
          <a:xfrm>
            <a:off x="2233117"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Aadhaar and PAN masked before any image is sent</a:t>
            </a:r>
            <a:endParaRPr lang="en-US" sz="1200" dirty="0"/>
          </a:p>
        </p:txBody>
      </p:sp>
      <p:sp>
        <p:nvSpPr>
          <p:cNvPr id="14" name="Shape 10"/>
          <p:cNvSpPr/>
          <p:nvPr/>
        </p:nvSpPr>
        <p:spPr>
          <a:xfrm>
            <a:off x="3595573" y="2743200"/>
            <a:ext cx="166573" cy="274320"/>
          </a:xfrm>
          <a:prstGeom prst="rightArrow">
            <a:avLst/>
          </a:prstGeom>
          <a:solidFill>
            <a:schemeClr val="accent2"/>
          </a:solidFill>
          <a:ln w="12700">
            <a:solidFill>
              <a:schemeClr val="accent2"/>
            </a:solidFill>
            <a:prstDash val="solid"/>
          </a:ln>
        </p:spPr>
      </p:sp>
      <p:sp>
        <p:nvSpPr>
          <p:cNvPr id="15" name="Shape 11"/>
          <p:cNvSpPr/>
          <p:nvPr/>
        </p:nvSpPr>
        <p:spPr>
          <a:xfrm>
            <a:off x="3771290"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3881018" y="1755648"/>
            <a:ext cx="512064" cy="512064"/>
          </a:xfrm>
          <a:prstGeom prst="ellipse">
            <a:avLst/>
          </a:prstGeom>
          <a:solidFill>
            <a:schemeClr val="accent1"/>
          </a:solidFill>
          <a:ln w="12700">
            <a:solidFill>
              <a:schemeClr val="accent1"/>
            </a:solidFill>
            <a:prstDash val="solid"/>
          </a:ln>
        </p:spPr>
      </p:sp>
      <p:pic>
        <p:nvPicPr>
          <p:cNvPr id="17" name="Image 2" descr="Brain">    </p:cNvPr>
          <p:cNvPicPr>
            <a:picLocks noChangeAspect="1"/>
          </p:cNvPicPr>
          <p:nvPr/>
        </p:nvPicPr>
        <p:blipFill>
          <a:blip r:embed="rId3"/>
          <a:stretch>
            <a:fillRect/>
          </a:stretch>
        </p:blipFill>
        <p:spPr>
          <a:xfrm>
            <a:off x="4009034" y="1883664"/>
            <a:ext cx="256032" cy="256032"/>
          </a:xfrm>
          <a:prstGeom prst="rect">
            <a:avLst/>
          </a:prstGeom>
        </p:spPr>
      </p:pic>
      <p:sp>
        <p:nvSpPr>
          <p:cNvPr id="18" name="Text 13"/>
          <p:cNvSpPr txBox="1"/>
          <p:nvPr/>
        </p:nvSpPr>
        <p:spPr>
          <a:xfrm>
            <a:off x="3844442"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AI reads</a:t>
            </a:r>
            <a:endParaRPr lang="en-US" sz="1400" dirty="0"/>
          </a:p>
        </p:txBody>
      </p:sp>
      <p:sp>
        <p:nvSpPr>
          <p:cNvPr id="19" name="Text 14"/>
          <p:cNvSpPr txBox="1"/>
          <p:nvPr/>
        </p:nvSpPr>
        <p:spPr>
          <a:xfrm>
            <a:off x="3844442"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Vision model returns value, status, confidence, quote</a:t>
            </a:r>
            <a:endParaRPr lang="en-US" sz="1200" dirty="0"/>
          </a:p>
        </p:txBody>
      </p:sp>
      <p:sp>
        <p:nvSpPr>
          <p:cNvPr id="20" name="Shape 15"/>
          <p:cNvSpPr/>
          <p:nvPr/>
        </p:nvSpPr>
        <p:spPr>
          <a:xfrm>
            <a:off x="5206898" y="2743200"/>
            <a:ext cx="166573" cy="274320"/>
          </a:xfrm>
          <a:prstGeom prst="rightArrow">
            <a:avLst/>
          </a:prstGeom>
          <a:solidFill>
            <a:schemeClr val="accent2"/>
          </a:solidFill>
          <a:ln w="12700">
            <a:solidFill>
              <a:schemeClr val="accent2"/>
            </a:solidFill>
            <a:prstDash val="solid"/>
          </a:ln>
        </p:spPr>
      </p:sp>
      <p:sp>
        <p:nvSpPr>
          <p:cNvPr id="21" name="Shape 16"/>
          <p:cNvSpPr/>
          <p:nvPr/>
        </p:nvSpPr>
        <p:spPr>
          <a:xfrm>
            <a:off x="5382616"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5492344" y="1755648"/>
            <a:ext cx="512064" cy="512064"/>
          </a:xfrm>
          <a:prstGeom prst="ellipse">
            <a:avLst/>
          </a:prstGeom>
          <a:solidFill>
            <a:schemeClr val="accent1"/>
          </a:solidFill>
          <a:ln w="12700">
            <a:solidFill>
              <a:schemeClr val="accent1"/>
            </a:solidFill>
            <a:prstDash val="solid"/>
          </a:ln>
        </p:spPr>
      </p:sp>
      <p:pic>
        <p:nvPicPr>
          <p:cNvPr id="23" name="Image 3" descr="CheckDouble">    </p:cNvPr>
          <p:cNvPicPr>
            <a:picLocks noChangeAspect="1"/>
          </p:cNvPicPr>
          <p:nvPr/>
        </p:nvPicPr>
        <p:blipFill>
          <a:blip r:embed="rId4"/>
          <a:stretch>
            <a:fillRect/>
          </a:stretch>
        </p:blipFill>
        <p:spPr>
          <a:xfrm>
            <a:off x="5620360" y="1883664"/>
            <a:ext cx="256032" cy="256032"/>
          </a:xfrm>
          <a:prstGeom prst="rect">
            <a:avLst/>
          </a:prstGeom>
        </p:spPr>
      </p:pic>
      <p:sp>
        <p:nvSpPr>
          <p:cNvPr id="24" name="Text 18"/>
          <p:cNvSpPr txBox="1"/>
          <p:nvPr/>
        </p:nvSpPr>
        <p:spPr>
          <a:xfrm>
            <a:off x="5455768"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Cross-check</a:t>
            </a:r>
            <a:endParaRPr lang="en-US" sz="1400" dirty="0"/>
          </a:p>
        </p:txBody>
      </p:sp>
      <p:sp>
        <p:nvSpPr>
          <p:cNvPr id="25" name="Text 19"/>
          <p:cNvSpPr txBox="1"/>
          <p:nvPr/>
        </p:nvSpPr>
        <p:spPr>
          <a:xfrm>
            <a:off x="5455768"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Text layer or Tesseract confirms the quote is on the page</a:t>
            </a:r>
            <a:endParaRPr lang="en-US" sz="1200" dirty="0"/>
          </a:p>
        </p:txBody>
      </p:sp>
      <p:sp>
        <p:nvSpPr>
          <p:cNvPr id="26" name="Shape 20"/>
          <p:cNvSpPr/>
          <p:nvPr/>
        </p:nvSpPr>
        <p:spPr>
          <a:xfrm>
            <a:off x="6818224" y="2743200"/>
            <a:ext cx="166573" cy="274320"/>
          </a:xfrm>
          <a:prstGeom prst="rightArrow">
            <a:avLst/>
          </a:prstGeom>
          <a:solidFill>
            <a:schemeClr val="accent2"/>
          </a:solidFill>
          <a:ln w="12700">
            <a:solidFill>
              <a:schemeClr val="accent2"/>
            </a:solidFill>
            <a:prstDash val="solid"/>
          </a:ln>
        </p:spPr>
      </p:sp>
      <p:sp>
        <p:nvSpPr>
          <p:cNvPr id="27" name="Shape 21"/>
          <p:cNvSpPr/>
          <p:nvPr/>
        </p:nvSpPr>
        <p:spPr>
          <a:xfrm>
            <a:off x="6993941"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8" name="Shape 22"/>
          <p:cNvSpPr/>
          <p:nvPr/>
        </p:nvSpPr>
        <p:spPr>
          <a:xfrm>
            <a:off x="7103669" y="1755648"/>
            <a:ext cx="512064" cy="512064"/>
          </a:xfrm>
          <a:prstGeom prst="ellipse">
            <a:avLst/>
          </a:prstGeom>
          <a:solidFill>
            <a:schemeClr val="accent4"/>
          </a:solidFill>
          <a:ln w="12700">
            <a:solidFill>
              <a:schemeClr val="accent4"/>
            </a:solidFill>
            <a:prstDash val="solid"/>
          </a:ln>
        </p:spPr>
      </p:sp>
      <p:pic>
        <p:nvPicPr>
          <p:cNvPr id="29" name="Image 4" descr="ScaleBalanced">    </p:cNvPr>
          <p:cNvPicPr>
            <a:picLocks noChangeAspect="1"/>
          </p:cNvPicPr>
          <p:nvPr/>
        </p:nvPicPr>
        <p:blipFill>
          <a:blip r:embed="rId5"/>
          <a:stretch>
            <a:fillRect/>
          </a:stretch>
        </p:blipFill>
        <p:spPr>
          <a:xfrm>
            <a:off x="7231685" y="1883664"/>
            <a:ext cx="256032" cy="256032"/>
          </a:xfrm>
          <a:prstGeom prst="rect">
            <a:avLst/>
          </a:prstGeom>
        </p:spPr>
      </p:pic>
      <p:sp>
        <p:nvSpPr>
          <p:cNvPr id="30" name="Text 23"/>
          <p:cNvSpPr txBox="1"/>
          <p:nvPr/>
        </p:nvSpPr>
        <p:spPr>
          <a:xfrm>
            <a:off x="7067093"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Rules</a:t>
            </a:r>
            <a:endParaRPr lang="en-US" sz="1400" dirty="0"/>
          </a:p>
        </p:txBody>
      </p:sp>
      <p:sp>
        <p:nvSpPr>
          <p:cNvPr id="31" name="Text 24"/>
          <p:cNvSpPr txBox="1"/>
          <p:nvPr/>
        </p:nvSpPr>
        <p:spPr>
          <a:xfrm>
            <a:off x="7067093"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Class A and Class B checks, no AI involved</a:t>
            </a:r>
            <a:endParaRPr lang="en-US" sz="1200" dirty="0"/>
          </a:p>
        </p:txBody>
      </p:sp>
      <p:sp>
        <p:nvSpPr>
          <p:cNvPr id="32" name="Shape 25"/>
          <p:cNvSpPr/>
          <p:nvPr/>
        </p:nvSpPr>
        <p:spPr>
          <a:xfrm>
            <a:off x="8429549" y="2743200"/>
            <a:ext cx="166573" cy="274320"/>
          </a:xfrm>
          <a:prstGeom prst="rightArrow">
            <a:avLst/>
          </a:prstGeom>
          <a:solidFill>
            <a:schemeClr val="accent2"/>
          </a:solidFill>
          <a:ln w="12700">
            <a:solidFill>
              <a:schemeClr val="accent2"/>
            </a:solidFill>
            <a:prstDash val="solid"/>
          </a:ln>
        </p:spPr>
      </p:sp>
      <p:sp>
        <p:nvSpPr>
          <p:cNvPr id="33" name="Shape 26"/>
          <p:cNvSpPr/>
          <p:nvPr/>
        </p:nvSpPr>
        <p:spPr>
          <a:xfrm>
            <a:off x="8605266"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34" name="Shape 27"/>
          <p:cNvSpPr/>
          <p:nvPr/>
        </p:nvSpPr>
        <p:spPr>
          <a:xfrm>
            <a:off x="8714994" y="1755648"/>
            <a:ext cx="512064" cy="512064"/>
          </a:xfrm>
          <a:prstGeom prst="ellipse">
            <a:avLst/>
          </a:prstGeom>
          <a:solidFill>
            <a:schemeClr val="accent5"/>
          </a:solidFill>
          <a:ln w="12700">
            <a:solidFill>
              <a:schemeClr val="accent5"/>
            </a:solidFill>
            <a:prstDash val="solid"/>
          </a:ln>
        </p:spPr>
      </p:sp>
      <p:pic>
        <p:nvPicPr>
          <p:cNvPr id="35" name="Image 5" descr="PenToSquare">    </p:cNvPr>
          <p:cNvPicPr>
            <a:picLocks noChangeAspect="1"/>
          </p:cNvPicPr>
          <p:nvPr/>
        </p:nvPicPr>
        <p:blipFill>
          <a:blip r:embed="rId6"/>
          <a:stretch>
            <a:fillRect/>
          </a:stretch>
        </p:blipFill>
        <p:spPr>
          <a:xfrm>
            <a:off x="8843010" y="1883664"/>
            <a:ext cx="256032" cy="256032"/>
          </a:xfrm>
          <a:prstGeom prst="rect">
            <a:avLst/>
          </a:prstGeom>
        </p:spPr>
      </p:pic>
      <p:sp>
        <p:nvSpPr>
          <p:cNvPr id="36" name="Text 28"/>
          <p:cNvSpPr txBox="1"/>
          <p:nvPr/>
        </p:nvSpPr>
        <p:spPr>
          <a:xfrm>
            <a:off x="8678418"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Decide</a:t>
            </a:r>
            <a:endParaRPr lang="en-US" sz="1400" dirty="0"/>
          </a:p>
        </p:txBody>
      </p:sp>
      <p:sp>
        <p:nvSpPr>
          <p:cNvPr id="37" name="Text 29"/>
          <p:cNvSpPr txBox="1"/>
          <p:nvPr/>
        </p:nvSpPr>
        <p:spPr>
          <a:xfrm>
            <a:off x="8678418"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Officer records a reason for every flag</a:t>
            </a:r>
            <a:endParaRPr lang="en-US" sz="1200" dirty="0"/>
          </a:p>
        </p:txBody>
      </p:sp>
      <p:sp>
        <p:nvSpPr>
          <p:cNvPr id="38" name="Shape 30"/>
          <p:cNvSpPr/>
          <p:nvPr/>
        </p:nvSpPr>
        <p:spPr>
          <a:xfrm>
            <a:off x="10040874" y="2743200"/>
            <a:ext cx="166573" cy="274320"/>
          </a:xfrm>
          <a:prstGeom prst="rightArrow">
            <a:avLst/>
          </a:prstGeom>
          <a:solidFill>
            <a:schemeClr val="accent2"/>
          </a:solidFill>
          <a:ln w="12700">
            <a:solidFill>
              <a:schemeClr val="accent2"/>
            </a:solidFill>
            <a:prstDash val="solid"/>
          </a:ln>
        </p:spPr>
      </p:sp>
      <p:sp>
        <p:nvSpPr>
          <p:cNvPr id="39" name="Shape 31"/>
          <p:cNvSpPr/>
          <p:nvPr/>
        </p:nvSpPr>
        <p:spPr>
          <a:xfrm>
            <a:off x="10216591" y="1645920"/>
            <a:ext cx="1426464" cy="2514600"/>
          </a:xfrm>
          <a:prstGeom prst="roundRect">
            <a:avLst>
              <a:gd name="adj" fmla="val 769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0" name="Shape 32"/>
          <p:cNvSpPr/>
          <p:nvPr/>
        </p:nvSpPr>
        <p:spPr>
          <a:xfrm>
            <a:off x="10326319" y="1755648"/>
            <a:ext cx="512064" cy="512064"/>
          </a:xfrm>
          <a:prstGeom prst="ellipse">
            <a:avLst/>
          </a:prstGeom>
          <a:solidFill>
            <a:schemeClr val="accent5"/>
          </a:solidFill>
          <a:ln w="12700">
            <a:solidFill>
              <a:schemeClr val="accent5"/>
            </a:solidFill>
            <a:prstDash val="solid"/>
          </a:ln>
        </p:spPr>
      </p:sp>
      <p:pic>
        <p:nvPicPr>
          <p:cNvPr id="41" name="Image 6" descr="Link">    </p:cNvPr>
          <p:cNvPicPr>
            <a:picLocks noChangeAspect="1"/>
          </p:cNvPicPr>
          <p:nvPr/>
        </p:nvPicPr>
        <p:blipFill>
          <a:blip r:embed="rId7"/>
          <a:stretch>
            <a:fillRect/>
          </a:stretch>
        </p:blipFill>
        <p:spPr>
          <a:xfrm>
            <a:off x="10454335" y="1883664"/>
            <a:ext cx="256032" cy="256032"/>
          </a:xfrm>
          <a:prstGeom prst="rect">
            <a:avLst/>
          </a:prstGeom>
        </p:spPr>
      </p:pic>
      <p:sp>
        <p:nvSpPr>
          <p:cNvPr id="42" name="Text 33"/>
          <p:cNvSpPr txBox="1"/>
          <p:nvPr/>
        </p:nvSpPr>
        <p:spPr>
          <a:xfrm>
            <a:off x="10289743" y="2331720"/>
            <a:ext cx="1280160" cy="365760"/>
          </a:xfrm>
          <a:prstGeom prst="rect">
            <a:avLst/>
          </a:prstGeom>
          <a:noFill/>
          <a:ln/>
        </p:spPr>
        <p:txBody>
          <a:bodyPr wrap="square" lIns="0" tIns="0" rIns="0" bIns="0" rtlCol="0" anchor="t"/>
          <a:lstStyle/>
          <a:p>
            <a:pPr indent="0" marL="0">
              <a:buNone/>
            </a:pPr>
            <a:r>
              <a:rPr lang="en-US" sz="1400" b="1" dirty="0">
                <a:solidFill>
                  <a:schemeClr val="tx2"/>
                </a:solidFill>
              </a:rPr>
              <a:t>Sign + log</a:t>
            </a:r>
            <a:endParaRPr lang="en-US" sz="1400" dirty="0"/>
          </a:p>
        </p:txBody>
      </p:sp>
      <p:sp>
        <p:nvSpPr>
          <p:cNvPr id="43" name="Text 34"/>
          <p:cNvSpPr txBox="1"/>
          <p:nvPr/>
        </p:nvSpPr>
        <p:spPr>
          <a:xfrm>
            <a:off x="10289743" y="2743200"/>
            <a:ext cx="1280160" cy="1371600"/>
          </a:xfrm>
          <a:prstGeom prst="rect">
            <a:avLst/>
          </a:prstGeom>
          <a:noFill/>
          <a:ln/>
        </p:spPr>
        <p:txBody>
          <a:bodyPr wrap="square" lIns="0" tIns="0" rIns="0" bIns="0" rtlCol="0" anchor="t"/>
          <a:lstStyle/>
          <a:p>
            <a:pPr indent="0" marL="0">
              <a:buNone/>
            </a:pPr>
            <a:r>
              <a:rPr lang="en-US" sz="1200" dirty="0">
                <a:solidFill>
                  <a:srgbClr val="5B7276"/>
                </a:solidFill>
              </a:rPr>
              <a:t>Hash-chained, Ed25519-signed ledger entry</a:t>
            </a:r>
            <a:endParaRPr lang="en-US" sz="1200" dirty="0"/>
          </a:p>
        </p:txBody>
      </p:sp>
      <p:sp>
        <p:nvSpPr>
          <p:cNvPr id="44" name="Text 35"/>
          <p:cNvSpPr txBox="1"/>
          <p:nvPr/>
        </p:nvSpPr>
        <p:spPr>
          <a:xfrm>
            <a:off x="548640" y="4389120"/>
            <a:ext cx="6260440" cy="457200"/>
          </a:xfrm>
          <a:prstGeom prst="roundRect">
            <a:avLst>
              <a:gd name="adj" fmla="val 20000"/>
            </a:avLst>
          </a:prstGeom>
          <a:solidFill>
            <a:srgbClr val="E5F6F2"/>
          </a:solidFill>
          <a:ln/>
        </p:spPr>
        <p:txBody>
          <a:bodyPr wrap="square" lIns="0" tIns="0" rIns="0" bIns="0" rtlCol="0" anchor="ctr"/>
          <a:lstStyle/>
          <a:p>
            <a:pPr algn="ctr" indent="0" marL="0">
              <a:buNone/>
            </a:pPr>
            <a:r>
              <a:rPr lang="en-US" sz="1400" b="1" dirty="0">
                <a:solidFill>
                  <a:srgbClr val="134E4A"/>
                </a:solidFill>
              </a:rPr>
              <a:t>Extraction: reads and verifies the page</a:t>
            </a:r>
            <a:endParaRPr lang="en-US" sz="1400" dirty="0"/>
          </a:p>
        </p:txBody>
      </p:sp>
      <p:sp>
        <p:nvSpPr>
          <p:cNvPr id="45" name="Text 36"/>
          <p:cNvSpPr txBox="1"/>
          <p:nvPr/>
        </p:nvSpPr>
        <p:spPr>
          <a:xfrm>
            <a:off x="6993941" y="4389120"/>
            <a:ext cx="1426464" cy="457200"/>
          </a:xfrm>
          <a:prstGeom prst="roundRect">
            <a:avLst>
              <a:gd name="adj" fmla="val 20000"/>
            </a:avLst>
          </a:prstGeom>
          <a:solidFill>
            <a:srgbClr val="FDE9C4"/>
          </a:solidFill>
          <a:ln/>
        </p:spPr>
        <p:txBody>
          <a:bodyPr wrap="square" lIns="0" tIns="0" rIns="0" bIns="0" rtlCol="0" anchor="ctr"/>
          <a:lstStyle/>
          <a:p>
            <a:pPr algn="ctr" indent="0" marL="0">
              <a:buNone/>
            </a:pPr>
            <a:r>
              <a:rPr lang="en-US" sz="1400" b="1" dirty="0">
                <a:solidFill>
                  <a:srgbClr val="7C4A03"/>
                </a:solidFill>
              </a:rPr>
              <a:t>Deterministic</a:t>
            </a:r>
            <a:endParaRPr lang="en-US" sz="1400" dirty="0"/>
          </a:p>
        </p:txBody>
      </p:sp>
      <p:sp>
        <p:nvSpPr>
          <p:cNvPr id="46" name="Text 37"/>
          <p:cNvSpPr txBox="1"/>
          <p:nvPr/>
        </p:nvSpPr>
        <p:spPr>
          <a:xfrm>
            <a:off x="8605266" y="4389120"/>
            <a:ext cx="3037789" cy="457200"/>
          </a:xfrm>
          <a:prstGeom prst="roundRect">
            <a:avLst>
              <a:gd name="adj" fmla="val 20000"/>
            </a:avLst>
          </a:prstGeom>
          <a:solidFill>
            <a:srgbClr val="DDF0FB"/>
          </a:solidFill>
          <a:ln/>
        </p:spPr>
        <p:txBody>
          <a:bodyPr wrap="square" lIns="0" tIns="0" rIns="0" bIns="0" rtlCol="0" anchor="ctr"/>
          <a:lstStyle/>
          <a:p>
            <a:pPr algn="ctr" indent="0" marL="0">
              <a:buNone/>
            </a:pPr>
            <a:r>
              <a:rPr lang="en-US" sz="1400" b="1" dirty="0">
                <a:solidFill>
                  <a:srgbClr val="075985"/>
                </a:solidFill>
              </a:rPr>
              <a:t>Human + ledger</a:t>
            </a:r>
            <a:endParaRPr lang="en-US" sz="1400" dirty="0"/>
          </a:p>
        </p:txBody>
      </p:sp>
      <p:sp>
        <p:nvSpPr>
          <p:cNvPr id="47" name="Shape 38"/>
          <p:cNvSpPr/>
          <p:nvPr/>
        </p:nvSpPr>
        <p:spPr>
          <a:xfrm>
            <a:off x="548640" y="5166360"/>
            <a:ext cx="11094415" cy="1005840"/>
          </a:xfrm>
          <a:prstGeom prst="roundRect">
            <a:avLst>
              <a:gd name="adj" fmla="val 1090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8" name="Text 39"/>
          <p:cNvSpPr txBox="1"/>
          <p:nvPr/>
        </p:nvSpPr>
        <p:spPr>
          <a:xfrm>
            <a:off x="822960" y="5166360"/>
            <a:ext cx="10545775" cy="1005840"/>
          </a:xfrm>
          <a:prstGeom prst="rect">
            <a:avLst/>
          </a:prstGeom>
          <a:noFill/>
          <a:ln/>
        </p:spPr>
        <p:txBody>
          <a:bodyPr wrap="square" lIns="0" tIns="0" rIns="0" bIns="0" rtlCol="0" anchor="ctr"/>
          <a:lstStyle/>
          <a:p>
            <a:pPr indent="0" marL="0">
              <a:buNone/>
            </a:pPr>
            <a:r>
              <a:rPr lang="en-US" sz="1800" b="1" dirty="0">
                <a:solidFill>
                  <a:schemeClr val="tx2"/>
                </a:solidFill>
              </a:rPr>
              <a:t>Anything the AI cannot read becomes “needs review”. No rule ever fires on a field we could not read, so a bad scan never produces a false accusation.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Three states, never a guess</a:t>
            </a:r>
            <a:endParaRPr lang="en-US" sz="3600" dirty="0"/>
          </a:p>
        </p:txBody>
      </p:sp>
      <p:sp>
        <p:nvSpPr>
          <p:cNvPr id="3" name="Shape 1"/>
          <p:cNvSpPr/>
          <p:nvPr/>
        </p:nvSpPr>
        <p:spPr>
          <a:xfrm>
            <a:off x="548640" y="1554480"/>
            <a:ext cx="3520440" cy="3017520"/>
          </a:xfrm>
          <a:prstGeom prst="roundRect">
            <a:avLst>
              <a:gd name="adj" fmla="val 3636"/>
            </a:avLst>
          </a:prstGeom>
          <a:solidFill>
            <a:srgbClr val="ECFDF5"/>
          </a:solidFill>
          <a:ln w="12700">
            <a:solidFill>
              <a:srgbClr val="ECFDF5"/>
            </a:solidFill>
            <a:prstDash val="solid"/>
          </a:ln>
        </p:spPr>
      </p:sp>
      <p:sp>
        <p:nvSpPr>
          <p:cNvPr id="4" name="Text 2"/>
          <p:cNvSpPr txBox="1"/>
          <p:nvPr/>
        </p:nvSpPr>
        <p:spPr>
          <a:xfrm>
            <a:off x="822960" y="1783080"/>
            <a:ext cx="1737360" cy="457200"/>
          </a:xfrm>
          <a:prstGeom prst="roundRect">
            <a:avLst>
              <a:gd name="adj" fmla="val 20000"/>
            </a:avLst>
          </a:prstGeom>
          <a:solidFill>
            <a:schemeClr val="accent6"/>
          </a:solidFill>
          <a:ln/>
        </p:spPr>
        <p:txBody>
          <a:bodyPr wrap="square" lIns="0" tIns="0" rIns="0" bIns="0" rtlCol="0" anchor="ctr"/>
          <a:lstStyle/>
          <a:p>
            <a:pPr algn="ctr" indent="0" marL="0">
              <a:buNone/>
            </a:pPr>
            <a:r>
              <a:rPr lang="en-US" sz="1800" b="1" dirty="0">
                <a:solidFill>
                  <a:schemeClr val="bg1"/>
                </a:solidFill>
              </a:rPr>
              <a:t>Extracted</a:t>
            </a:r>
            <a:endParaRPr lang="en-US" sz="1800" dirty="0"/>
          </a:p>
        </p:txBody>
      </p:sp>
      <p:sp>
        <p:nvSpPr>
          <p:cNvPr id="5" name="Shape 3"/>
          <p:cNvSpPr/>
          <p:nvPr/>
        </p:nvSpPr>
        <p:spPr>
          <a:xfrm>
            <a:off x="3154680" y="1737360"/>
            <a:ext cx="566928" cy="566928"/>
          </a:xfrm>
          <a:prstGeom prst="ellipse">
            <a:avLst/>
          </a:prstGeom>
          <a:solidFill>
            <a:schemeClr val="accent6"/>
          </a:solidFill>
          <a:ln w="12700">
            <a:solidFill>
              <a:schemeClr val="accent6"/>
            </a:solidFill>
            <a:prstDash val="solid"/>
          </a:ln>
        </p:spPr>
      </p:sp>
      <p:pic>
        <p:nvPicPr>
          <p:cNvPr id="6" name="Image 0" descr="CircleCheck">    </p:cNvPr>
          <p:cNvPicPr>
            <a:picLocks noChangeAspect="1"/>
          </p:cNvPicPr>
          <p:nvPr/>
        </p:nvPicPr>
        <p:blipFill>
          <a:blip r:embed="rId1"/>
          <a:stretch>
            <a:fillRect/>
          </a:stretch>
        </p:blipFill>
        <p:spPr>
          <a:xfrm>
            <a:off x="3296412" y="1879092"/>
            <a:ext cx="283464" cy="283464"/>
          </a:xfrm>
          <a:prstGeom prst="rect">
            <a:avLst/>
          </a:prstGeom>
        </p:spPr>
      </p:pic>
      <p:sp>
        <p:nvSpPr>
          <p:cNvPr id="7" name="Text 4"/>
          <p:cNvSpPr txBox="1"/>
          <p:nvPr/>
        </p:nvSpPr>
        <p:spPr>
          <a:xfrm>
            <a:off x="822960" y="2423160"/>
            <a:ext cx="2971800" cy="960120"/>
          </a:xfrm>
          <a:prstGeom prst="rect">
            <a:avLst/>
          </a:prstGeom>
          <a:noFill/>
          <a:ln/>
        </p:spPr>
        <p:txBody>
          <a:bodyPr wrap="square" lIns="0" tIns="0" rIns="0" bIns="0" rtlCol="0" anchor="t"/>
          <a:lstStyle/>
          <a:p>
            <a:pPr indent="0" marL="0">
              <a:buNone/>
            </a:pPr>
            <a:r>
              <a:rPr lang="en-US" sz="1600" b="1" dirty="0">
                <a:solidFill>
                  <a:schemeClr val="tx1"/>
                </a:solidFill>
              </a:rPr>
              <a:t>Read with enough confidence and a quote found on the page.</a:t>
            </a:r>
            <a:endParaRPr lang="en-US" sz="1600" dirty="0"/>
          </a:p>
        </p:txBody>
      </p:sp>
      <p:sp>
        <p:nvSpPr>
          <p:cNvPr id="8" name="Text 5"/>
          <p:cNvSpPr txBox="1"/>
          <p:nvPr/>
        </p:nvSpPr>
        <p:spPr>
          <a:xfrm>
            <a:off x="822960" y="3383280"/>
            <a:ext cx="2971800" cy="1143000"/>
          </a:xfrm>
          <a:prstGeom prst="rect">
            <a:avLst/>
          </a:prstGeom>
          <a:noFill/>
          <a:ln/>
        </p:spPr>
        <p:txBody>
          <a:bodyPr wrap="square" lIns="0" tIns="0" rIns="0" bIns="0" rtlCol="0" anchor="t"/>
          <a:lstStyle/>
          <a:p>
            <a:pPr indent="0" marL="0">
              <a:buNone/>
            </a:pPr>
            <a:r>
              <a:rPr lang="en-US" sz="1600" dirty="0">
                <a:solidFill>
                  <a:srgbClr val="5B7276"/>
                </a:solidFill>
              </a:rPr>
              <a:t>The rules use the value.</a:t>
            </a:r>
            <a:endParaRPr lang="en-US" sz="1600" dirty="0"/>
          </a:p>
        </p:txBody>
      </p:sp>
      <p:sp>
        <p:nvSpPr>
          <p:cNvPr id="9" name="Shape 6"/>
          <p:cNvSpPr/>
          <p:nvPr/>
        </p:nvSpPr>
        <p:spPr>
          <a:xfrm>
            <a:off x="4335628" y="1554480"/>
            <a:ext cx="3520440" cy="3017520"/>
          </a:xfrm>
          <a:prstGeom prst="roundRect">
            <a:avLst>
              <a:gd name="adj" fmla="val 3636"/>
            </a:avLst>
          </a:prstGeom>
          <a:solidFill>
            <a:srgbClr val="FFFBEB"/>
          </a:solidFill>
          <a:ln w="12700">
            <a:solidFill>
              <a:srgbClr val="FFFBEB"/>
            </a:solidFill>
            <a:prstDash val="solid"/>
          </a:ln>
        </p:spPr>
      </p:sp>
      <p:sp>
        <p:nvSpPr>
          <p:cNvPr id="10" name="Text 7"/>
          <p:cNvSpPr txBox="1"/>
          <p:nvPr/>
        </p:nvSpPr>
        <p:spPr>
          <a:xfrm>
            <a:off x="4609948" y="1783080"/>
            <a:ext cx="1737360" cy="457200"/>
          </a:xfrm>
          <a:prstGeom prst="roundRect">
            <a:avLst>
              <a:gd name="adj" fmla="val 20000"/>
            </a:avLst>
          </a:prstGeom>
          <a:solidFill>
            <a:schemeClr val="accent4"/>
          </a:solidFill>
          <a:ln/>
        </p:spPr>
        <p:txBody>
          <a:bodyPr wrap="square" lIns="0" tIns="0" rIns="0" bIns="0" rtlCol="0" anchor="ctr"/>
          <a:lstStyle/>
          <a:p>
            <a:pPr algn="ctr" indent="0" marL="0">
              <a:buNone/>
            </a:pPr>
            <a:r>
              <a:rPr lang="en-US" sz="1800" b="1" dirty="0">
                <a:solidFill>
                  <a:schemeClr val="bg1"/>
                </a:solidFill>
              </a:rPr>
              <a:t>Absent</a:t>
            </a:r>
            <a:endParaRPr lang="en-US" sz="1800" dirty="0"/>
          </a:p>
        </p:txBody>
      </p:sp>
      <p:sp>
        <p:nvSpPr>
          <p:cNvPr id="11" name="Shape 8"/>
          <p:cNvSpPr/>
          <p:nvPr/>
        </p:nvSpPr>
        <p:spPr>
          <a:xfrm>
            <a:off x="6941668" y="1737360"/>
            <a:ext cx="566928" cy="566928"/>
          </a:xfrm>
          <a:prstGeom prst="ellipse">
            <a:avLst/>
          </a:prstGeom>
          <a:solidFill>
            <a:schemeClr val="accent4"/>
          </a:solidFill>
          <a:ln w="12700">
            <a:solidFill>
              <a:schemeClr val="accent4"/>
            </a:solidFill>
            <a:prstDash val="solid"/>
          </a:ln>
        </p:spPr>
      </p:sp>
      <p:pic>
        <p:nvPicPr>
          <p:cNvPr id="12" name="Image 1" descr="FileCircleMinus">    </p:cNvPr>
          <p:cNvPicPr>
            <a:picLocks noChangeAspect="1"/>
          </p:cNvPicPr>
          <p:nvPr/>
        </p:nvPicPr>
        <p:blipFill>
          <a:blip r:embed="rId2"/>
          <a:stretch>
            <a:fillRect/>
          </a:stretch>
        </p:blipFill>
        <p:spPr>
          <a:xfrm>
            <a:off x="7083400" y="1879092"/>
            <a:ext cx="283464" cy="283464"/>
          </a:xfrm>
          <a:prstGeom prst="rect">
            <a:avLst/>
          </a:prstGeom>
        </p:spPr>
      </p:pic>
      <p:sp>
        <p:nvSpPr>
          <p:cNvPr id="13" name="Text 9"/>
          <p:cNvSpPr txBox="1"/>
          <p:nvPr/>
        </p:nvSpPr>
        <p:spPr>
          <a:xfrm>
            <a:off x="4609948" y="2423160"/>
            <a:ext cx="2971800" cy="960120"/>
          </a:xfrm>
          <a:prstGeom prst="rect">
            <a:avLst/>
          </a:prstGeom>
          <a:noFill/>
          <a:ln/>
        </p:spPr>
        <p:txBody>
          <a:bodyPr wrap="square" lIns="0" tIns="0" rIns="0" bIns="0" rtlCol="0" anchor="t"/>
          <a:lstStyle/>
          <a:p>
            <a:pPr indent="0" marL="0">
              <a:buNone/>
            </a:pPr>
            <a:r>
              <a:rPr lang="en-US" sz="1600" b="1" dirty="0">
                <a:solidFill>
                  <a:schemeClr val="tx1"/>
                </a:solidFill>
              </a:rPr>
              <a:t>The page is readable and the item is genuinely not stated.</a:t>
            </a:r>
            <a:endParaRPr lang="en-US" sz="1600" dirty="0"/>
          </a:p>
        </p:txBody>
      </p:sp>
      <p:sp>
        <p:nvSpPr>
          <p:cNvPr id="14" name="Text 10"/>
          <p:cNvSpPr txBox="1"/>
          <p:nvPr/>
        </p:nvSpPr>
        <p:spPr>
          <a:xfrm>
            <a:off x="4609948" y="3383280"/>
            <a:ext cx="2971800" cy="1143000"/>
          </a:xfrm>
          <a:prstGeom prst="rect">
            <a:avLst/>
          </a:prstGeom>
          <a:noFill/>
          <a:ln/>
        </p:spPr>
        <p:txBody>
          <a:bodyPr wrap="square" lIns="0" tIns="0" rIns="0" bIns="0" rtlCol="0" anchor="t"/>
          <a:lstStyle/>
          <a:p>
            <a:pPr indent="0" marL="0">
              <a:buNone/>
            </a:pPr>
            <a:r>
              <a:rPr lang="en-US" sz="1600" dirty="0">
                <a:solidFill>
                  <a:srgbClr val="5B7276"/>
                </a:solidFill>
              </a:rPr>
              <a:t>Class A rules may fire, for example a power of attorney with no registration number.</a:t>
            </a:r>
            <a:endParaRPr lang="en-US" sz="1600" dirty="0"/>
          </a:p>
        </p:txBody>
      </p:sp>
      <p:sp>
        <p:nvSpPr>
          <p:cNvPr id="15" name="Shape 11"/>
          <p:cNvSpPr/>
          <p:nvPr/>
        </p:nvSpPr>
        <p:spPr>
          <a:xfrm>
            <a:off x="8122615" y="1554480"/>
            <a:ext cx="3520440" cy="3017520"/>
          </a:xfrm>
          <a:prstGeom prst="roundRect">
            <a:avLst>
              <a:gd name="adj" fmla="val 3636"/>
            </a:avLst>
          </a:prstGeom>
          <a:solidFill>
            <a:srgbClr val="F0F9FF"/>
          </a:solidFill>
          <a:ln w="12700">
            <a:solidFill>
              <a:srgbClr val="F0F9FF"/>
            </a:solidFill>
            <a:prstDash val="solid"/>
          </a:ln>
        </p:spPr>
      </p:sp>
      <p:sp>
        <p:nvSpPr>
          <p:cNvPr id="16" name="Text 12"/>
          <p:cNvSpPr txBox="1"/>
          <p:nvPr/>
        </p:nvSpPr>
        <p:spPr>
          <a:xfrm>
            <a:off x="8396935" y="1783080"/>
            <a:ext cx="1737360" cy="457200"/>
          </a:xfrm>
          <a:prstGeom prst="roundRect">
            <a:avLst>
              <a:gd name="adj" fmla="val 20000"/>
            </a:avLst>
          </a:prstGeom>
          <a:solidFill>
            <a:schemeClr val="accent5"/>
          </a:solidFill>
          <a:ln/>
        </p:spPr>
        <p:txBody>
          <a:bodyPr wrap="square" lIns="0" tIns="0" rIns="0" bIns="0" rtlCol="0" anchor="ctr"/>
          <a:lstStyle/>
          <a:p>
            <a:pPr algn="ctr" indent="0" marL="0">
              <a:buNone/>
            </a:pPr>
            <a:r>
              <a:rPr lang="en-US" sz="1800" b="1" dirty="0">
                <a:solidFill>
                  <a:schemeClr val="bg1"/>
                </a:solidFill>
              </a:rPr>
              <a:t>Unreadable</a:t>
            </a:r>
            <a:endParaRPr lang="en-US" sz="1800" dirty="0"/>
          </a:p>
        </p:txBody>
      </p:sp>
      <p:sp>
        <p:nvSpPr>
          <p:cNvPr id="17" name="Shape 13"/>
          <p:cNvSpPr/>
          <p:nvPr/>
        </p:nvSpPr>
        <p:spPr>
          <a:xfrm>
            <a:off x="10728655" y="1737360"/>
            <a:ext cx="566928" cy="566928"/>
          </a:xfrm>
          <a:prstGeom prst="ellipse">
            <a:avLst/>
          </a:prstGeom>
          <a:solidFill>
            <a:schemeClr val="accent5"/>
          </a:solidFill>
          <a:ln w="12700">
            <a:solidFill>
              <a:schemeClr val="accent5"/>
            </a:solidFill>
            <a:prstDash val="solid"/>
          </a:ln>
        </p:spPr>
      </p:sp>
      <p:pic>
        <p:nvPicPr>
          <p:cNvPr id="18" name="Image 2" descr="CircleQuestion">    </p:cNvPr>
          <p:cNvPicPr>
            <a:picLocks noChangeAspect="1"/>
          </p:cNvPicPr>
          <p:nvPr/>
        </p:nvPicPr>
        <p:blipFill>
          <a:blip r:embed="rId3"/>
          <a:stretch>
            <a:fillRect/>
          </a:stretch>
        </p:blipFill>
        <p:spPr>
          <a:xfrm>
            <a:off x="10870387" y="1879092"/>
            <a:ext cx="283464" cy="283464"/>
          </a:xfrm>
          <a:prstGeom prst="rect">
            <a:avLst/>
          </a:prstGeom>
        </p:spPr>
      </p:pic>
      <p:sp>
        <p:nvSpPr>
          <p:cNvPr id="19" name="Text 14"/>
          <p:cNvSpPr txBox="1"/>
          <p:nvPr/>
        </p:nvSpPr>
        <p:spPr>
          <a:xfrm>
            <a:off x="8396935" y="2423160"/>
            <a:ext cx="2971800" cy="960120"/>
          </a:xfrm>
          <a:prstGeom prst="rect">
            <a:avLst/>
          </a:prstGeom>
          <a:noFill/>
          <a:ln/>
        </p:spPr>
        <p:txBody>
          <a:bodyPr wrap="square" lIns="0" tIns="0" rIns="0" bIns="0" rtlCol="0" anchor="t"/>
          <a:lstStyle/>
          <a:p>
            <a:pPr indent="0" marL="0">
              <a:buNone/>
            </a:pPr>
            <a:r>
              <a:rPr lang="en-US" sz="1600" b="1" dirty="0">
                <a:solidFill>
                  <a:schemeClr val="tx1"/>
                </a:solidFill>
              </a:rPr>
              <a:t>Probably there, but we cannot read it reliably.</a:t>
            </a:r>
            <a:endParaRPr lang="en-US" sz="1600" dirty="0"/>
          </a:p>
        </p:txBody>
      </p:sp>
      <p:sp>
        <p:nvSpPr>
          <p:cNvPr id="20" name="Text 15"/>
          <p:cNvSpPr txBox="1"/>
          <p:nvPr/>
        </p:nvSpPr>
        <p:spPr>
          <a:xfrm>
            <a:off x="8396935" y="3383280"/>
            <a:ext cx="2971800" cy="1143000"/>
          </a:xfrm>
          <a:prstGeom prst="rect">
            <a:avLst/>
          </a:prstGeom>
          <a:noFill/>
          <a:ln/>
        </p:spPr>
        <p:txBody>
          <a:bodyPr wrap="square" lIns="0" tIns="0" rIns="0" bIns="0" rtlCol="0" anchor="t"/>
          <a:lstStyle/>
          <a:p>
            <a:pPr indent="0" marL="0">
              <a:buNone/>
            </a:pPr>
            <a:r>
              <a:rPr lang="en-US" sz="1600" dirty="0">
                <a:solidFill>
                  <a:srgbClr val="5B7276"/>
                </a:solidFill>
              </a:rPr>
              <a:t>Treated as unknown: no flag is raised and a human reviews it.</a:t>
            </a:r>
            <a:endParaRPr lang="en-US" sz="1600" dirty="0"/>
          </a:p>
        </p:txBody>
      </p:sp>
      <p:sp>
        <p:nvSpPr>
          <p:cNvPr id="21" name="Shape 16"/>
          <p:cNvSpPr/>
          <p:nvPr/>
        </p:nvSpPr>
        <p:spPr>
          <a:xfrm>
            <a:off x="548640" y="4800600"/>
            <a:ext cx="5486400" cy="1417320"/>
          </a:xfrm>
          <a:prstGeom prst="roundRect">
            <a:avLst>
              <a:gd name="adj" fmla="val 7742"/>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2" name="Text 17"/>
          <p:cNvSpPr txBox="1"/>
          <p:nvPr/>
        </p:nvSpPr>
        <p:spPr>
          <a:xfrm>
            <a:off x="822960" y="4873752"/>
            <a:ext cx="4937760" cy="365760"/>
          </a:xfrm>
          <a:prstGeom prst="rect">
            <a:avLst/>
          </a:prstGeom>
          <a:noFill/>
          <a:ln/>
        </p:spPr>
        <p:txBody>
          <a:bodyPr wrap="square" lIns="0" tIns="0" rIns="0" bIns="0" rtlCol="0" anchor="t"/>
          <a:lstStyle/>
          <a:p>
            <a:pPr indent="0" marL="0">
              <a:buNone/>
            </a:pPr>
            <a:r>
              <a:rPr lang="en-US" sz="1600" b="1" dirty="0">
                <a:solidFill>
                  <a:schemeClr val="tx2"/>
                </a:solidFill>
              </a:rPr>
              <a:t>Confidence, from three signals</a:t>
            </a:r>
            <a:endParaRPr lang="en-US" sz="1600" dirty="0"/>
          </a:p>
        </p:txBody>
      </p:sp>
      <p:sp>
        <p:nvSpPr>
          <p:cNvPr id="23" name="Text 18"/>
          <p:cNvSpPr txBox="1"/>
          <p:nvPr/>
        </p:nvSpPr>
        <p:spPr>
          <a:xfrm>
            <a:off x="822960" y="5257800"/>
            <a:ext cx="4937760" cy="914400"/>
          </a:xfrm>
          <a:prstGeom prst="rect">
            <a:avLst/>
          </a:prstGeom>
          <a:noFill/>
          <a:ln/>
        </p:spPr>
        <p:txBody>
          <a:bodyPr wrap="square" lIns="0" tIns="0" rIns="0" bIns="0" rtlCol="0" anchor="t"/>
          <a:lstStyle/>
          <a:p>
            <a:pPr indent="0" marL="0">
              <a:buNone/>
            </a:pPr>
            <a:r>
              <a:rPr lang="en-US" sz="1500" dirty="0">
                <a:solidFill>
                  <a:schemeClr val="tx1"/>
                </a:solidFill>
              </a:rPr>
              <a:t>40% model's own score</a:t>
            </a:r>
            <a:endParaRPr lang="en-US" sz="1500" dirty="0"/>
          </a:p>
          <a:p>
            <a:pPr indent="0" marL="0">
              <a:buNone/>
            </a:pPr>
            <a:r>
              <a:rPr lang="en-US" sz="1500" dirty="0">
                <a:solidFill>
                  <a:schemeClr val="tx1"/>
                </a:solidFill>
              </a:rPr>
              <a:t>30% value has the right format</a:t>
            </a:r>
            <a:endParaRPr lang="en-US" sz="1500" dirty="0"/>
          </a:p>
          <a:p>
            <a:pPr indent="0" marL="0">
              <a:buNone/>
            </a:pPr>
            <a:r>
              <a:rPr lang="en-US" sz="1500" dirty="0">
                <a:solidFill>
                  <a:schemeClr val="tx1"/>
                </a:solidFill>
              </a:rPr>
              <a:t>30% quote really found on the page</a:t>
            </a:r>
            <a:endParaRPr lang="en-US" sz="1500" dirty="0"/>
          </a:p>
        </p:txBody>
      </p:sp>
      <p:sp>
        <p:nvSpPr>
          <p:cNvPr id="24" name="Shape 19"/>
          <p:cNvSpPr/>
          <p:nvPr/>
        </p:nvSpPr>
        <p:spPr>
          <a:xfrm>
            <a:off x="6309360" y="4800600"/>
            <a:ext cx="5333695" cy="1417320"/>
          </a:xfrm>
          <a:prstGeom prst="roundRect">
            <a:avLst>
              <a:gd name="adj" fmla="val 7742"/>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25" name="Text 20"/>
          <p:cNvSpPr txBox="1"/>
          <p:nvPr/>
        </p:nvSpPr>
        <p:spPr>
          <a:xfrm>
            <a:off x="6583680" y="4873752"/>
            <a:ext cx="4785055" cy="365760"/>
          </a:xfrm>
          <a:prstGeom prst="rect">
            <a:avLst/>
          </a:prstGeom>
          <a:noFill/>
          <a:ln/>
        </p:spPr>
        <p:txBody>
          <a:bodyPr wrap="square" lIns="0" tIns="0" rIns="0" bIns="0" rtlCol="0" anchor="t"/>
          <a:lstStyle/>
          <a:p>
            <a:pPr indent="0" marL="0">
              <a:buNone/>
            </a:pPr>
            <a:r>
              <a:rPr lang="en-US" sz="1600" b="1" dirty="0">
                <a:solidFill>
                  <a:schemeClr val="accent2"/>
                </a:solidFill>
              </a:rPr>
              <a:t>Real result from our tests</a:t>
            </a:r>
            <a:endParaRPr lang="en-US" sz="1600" dirty="0"/>
          </a:p>
        </p:txBody>
      </p:sp>
      <p:sp>
        <p:nvSpPr>
          <p:cNvPr id="26" name="Text 21"/>
          <p:cNvSpPr txBox="1"/>
          <p:nvPr/>
        </p:nvSpPr>
        <p:spPr>
          <a:xfrm>
            <a:off x="6583680" y="5257800"/>
            <a:ext cx="4785055" cy="914400"/>
          </a:xfrm>
          <a:prstGeom prst="rect">
            <a:avLst/>
          </a:prstGeom>
          <a:noFill/>
          <a:ln/>
        </p:spPr>
        <p:txBody>
          <a:bodyPr wrap="square" lIns="0" tIns="0" rIns="0" bIns="0" rtlCol="0" anchor="t"/>
          <a:lstStyle/>
          <a:p>
            <a:pPr indent="0" marL="0">
              <a:buNone/>
            </a:pPr>
            <a:r>
              <a:rPr lang="en-US" sz="1500" dirty="0">
                <a:solidFill>
                  <a:schemeClr val="bg1"/>
                </a:solidFill>
              </a:rPr>
              <a:t>On a poor scan, “POA number not stated” was not trusted. It became “needs review” instead of a false hard stop.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Class A and Class B checks</a:t>
            </a:r>
            <a:endParaRPr lang="en-US" sz="3600" dirty="0"/>
          </a:p>
        </p:txBody>
      </p:sp>
      <p:sp>
        <p:nvSpPr>
          <p:cNvPr id="3" name="Shape 1"/>
          <p:cNvSpPr/>
          <p:nvPr/>
        </p:nvSpPr>
        <p:spPr>
          <a:xfrm>
            <a:off x="548640" y="1508760"/>
            <a:ext cx="5364328" cy="4343400"/>
          </a:xfrm>
          <a:prstGeom prst="roundRect">
            <a:avLst>
              <a:gd name="adj" fmla="val 2526"/>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691640"/>
            <a:ext cx="2926080" cy="411480"/>
          </a:xfrm>
          <a:prstGeom prst="roundRect">
            <a:avLst>
              <a:gd name="adj" fmla="val 22222"/>
            </a:avLst>
          </a:prstGeom>
          <a:solidFill>
            <a:schemeClr val="accent3"/>
          </a:solidFill>
          <a:ln/>
        </p:spPr>
        <p:txBody>
          <a:bodyPr wrap="square" lIns="0" tIns="0" rIns="0" bIns="0" rtlCol="0" anchor="ctr"/>
          <a:lstStyle/>
          <a:p>
            <a:pPr algn="ctr" indent="0" marL="0">
              <a:buNone/>
            </a:pPr>
            <a:r>
              <a:rPr lang="en-US" sz="1600" b="1" dirty="0">
                <a:solidFill>
                  <a:schemeClr val="bg1"/>
                </a:solidFill>
              </a:rPr>
              <a:t>Class A · Registrability</a:t>
            </a:r>
            <a:endParaRPr lang="en-US" sz="1600" dirty="0"/>
          </a:p>
        </p:txBody>
      </p:sp>
      <p:sp>
        <p:nvSpPr>
          <p:cNvPr id="5" name="Text 3"/>
          <p:cNvSpPr txBox="1"/>
          <p:nvPr/>
        </p:nvSpPr>
        <p:spPr>
          <a:xfrm>
            <a:off x="777240" y="2176272"/>
            <a:ext cx="4907128" cy="566928"/>
          </a:xfrm>
          <a:prstGeom prst="rect">
            <a:avLst/>
          </a:prstGeom>
          <a:noFill/>
          <a:ln/>
        </p:spPr>
        <p:txBody>
          <a:bodyPr wrap="square" lIns="0" tIns="0" rIns="0" bIns="0" rtlCol="0" anchor="t"/>
          <a:lstStyle/>
          <a:p>
            <a:pPr indent="0" marL="0">
              <a:buNone/>
            </a:pPr>
            <a:r>
              <a:rPr lang="en-US" sz="1400" dirty="0">
                <a:solidFill>
                  <a:srgbClr val="5B7276"/>
                </a:solidFill>
              </a:rPr>
              <a:t>Objective checks that may justify refusal or return for correction.</a:t>
            </a:r>
            <a:endParaRPr lang="en-US" sz="1400" dirty="0"/>
          </a:p>
        </p:txBody>
      </p:sp>
      <p:sp>
        <p:nvSpPr>
          <p:cNvPr id="6" name="Text 4"/>
          <p:cNvSpPr txBox="1"/>
          <p:nvPr/>
        </p:nvSpPr>
        <p:spPr>
          <a:xfrm>
            <a:off x="777240" y="2743200"/>
            <a:ext cx="4907128" cy="3017520"/>
          </a:xfrm>
          <a:prstGeom prst="rect">
            <a:avLst/>
          </a:prstGeom>
          <a:noFill/>
          <a:ln/>
        </p:spPr>
        <p:txBody>
          <a:bodyPr wrap="square" lIns="635" tIns="635" rIns="635" bIns="635" rtlCol="0" anchor="t"/>
          <a:lstStyle/>
          <a:p>
            <a:pPr marL="177800" indent="-177800">
              <a:spcAft>
                <a:spcPts val="400"/>
              </a:spcAft>
              <a:buSzPct val="100000"/>
              <a:buChar char="•"/>
            </a:pPr>
            <a:r>
              <a:rPr lang="en-US" sz="1400" dirty="0">
                <a:solidFill>
                  <a:schemeClr val="tx1"/>
                </a:solidFill>
              </a:rPr>
              <a:t>A1  Power of attorney has no registration number</a:t>
            </a:r>
            <a:endParaRPr lang="en-US" sz="1400" dirty="0"/>
          </a:p>
          <a:p>
            <a:pPr marL="177800" indent="-177800">
              <a:spcAft>
                <a:spcPts val="400"/>
              </a:spcAft>
              <a:buSzPct val="100000"/>
              <a:buChar char="•"/>
            </a:pPr>
            <a:r>
              <a:rPr lang="en-US" sz="1400" dirty="0">
                <a:solidFill>
                  <a:schemeClr val="tx1"/>
                </a:solidFill>
              </a:rPr>
              <a:t>A2  Property area and unit stated</a:t>
            </a:r>
            <a:endParaRPr lang="en-US" sz="1400" dirty="0"/>
          </a:p>
          <a:p>
            <a:pPr marL="177800" indent="-177800">
              <a:spcAft>
                <a:spcPts val="400"/>
              </a:spcAft>
              <a:buSzPct val="100000"/>
              <a:buChar char="•"/>
            </a:pPr>
            <a:r>
              <a:rPr lang="en-US" sz="1400" dirty="0">
                <a:solidFill>
                  <a:schemeClr val="tx1"/>
                </a:solidFill>
              </a:rPr>
              <a:t>A3  All four boundaries described</a:t>
            </a:r>
            <a:endParaRPr lang="en-US" sz="1400" dirty="0"/>
          </a:p>
          <a:p>
            <a:pPr marL="177800" indent="-177800">
              <a:spcAft>
                <a:spcPts val="400"/>
              </a:spcAft>
              <a:buSzPct val="100000"/>
              <a:buChar char="•"/>
            </a:pPr>
            <a:r>
              <a:rPr lang="en-US" sz="1400" dirty="0">
                <a:solidFill>
                  <a:schemeClr val="tx1"/>
                </a:solidFill>
              </a:rPr>
              <a:t>A4  Presented within the allowed window (draft rule)</a:t>
            </a:r>
            <a:endParaRPr lang="en-US" sz="1400" dirty="0"/>
          </a:p>
          <a:p>
            <a:pPr marL="177800" indent="-177800">
              <a:spcAft>
                <a:spcPts val="400"/>
              </a:spcAft>
              <a:buSzPct val="100000"/>
              <a:buChar char="•"/>
            </a:pPr>
            <a:r>
              <a:rPr lang="en-US" sz="1400" dirty="0">
                <a:solidFill>
                  <a:schemeClr val="tx1"/>
                </a:solidFill>
              </a:rPr>
              <a:t>A5  Seller and buyer names present</a:t>
            </a:r>
            <a:endParaRPr lang="en-US" sz="1400" dirty="0"/>
          </a:p>
          <a:p>
            <a:pPr marL="177800" indent="-177800">
              <a:spcAft>
                <a:spcPts val="400"/>
              </a:spcAft>
              <a:buSzPct val="100000"/>
              <a:buChar char="•"/>
            </a:pPr>
            <a:r>
              <a:rPr lang="en-US" sz="1400" dirty="0">
                <a:solidFill>
                  <a:schemeClr val="tx1"/>
                </a:solidFill>
              </a:rPr>
              <a:t>A6  Consideration (price) stated</a:t>
            </a:r>
            <a:endParaRPr lang="en-US" sz="1400" dirty="0"/>
          </a:p>
          <a:p>
            <a:pPr marL="177800" indent="-177800">
              <a:spcAft>
                <a:spcPts val="400"/>
              </a:spcAft>
              <a:buSzPct val="100000"/>
              <a:buChar char="•"/>
            </a:pPr>
            <a:r>
              <a:rPr lang="en-US" sz="1400" dirty="0">
                <a:solidFill>
                  <a:schemeClr val="tx1"/>
                </a:solidFill>
              </a:rPr>
              <a:t>A7  ULPIN consistent with the parent deed</a:t>
            </a:r>
            <a:endParaRPr lang="en-US" sz="1400" dirty="0"/>
          </a:p>
        </p:txBody>
      </p:sp>
      <p:sp>
        <p:nvSpPr>
          <p:cNvPr id="7" name="Shape 5"/>
          <p:cNvSpPr/>
          <p:nvPr/>
        </p:nvSpPr>
        <p:spPr>
          <a:xfrm>
            <a:off x="5044288" y="1645920"/>
            <a:ext cx="566928" cy="566928"/>
          </a:xfrm>
          <a:prstGeom prst="ellipse">
            <a:avLst/>
          </a:prstGeom>
          <a:solidFill>
            <a:schemeClr val="accent3"/>
          </a:solidFill>
          <a:ln w="12700">
            <a:solidFill>
              <a:schemeClr val="accent3"/>
            </a:solidFill>
            <a:prstDash val="solid"/>
          </a:ln>
        </p:spPr>
      </p:sp>
      <p:pic>
        <p:nvPicPr>
          <p:cNvPr id="8" name="Image 0" descr="ClipboardCheck">    </p:cNvPr>
          <p:cNvPicPr>
            <a:picLocks noChangeAspect="1"/>
          </p:cNvPicPr>
          <p:nvPr/>
        </p:nvPicPr>
        <p:blipFill>
          <a:blip r:embed="rId1"/>
          <a:stretch>
            <a:fillRect/>
          </a:stretch>
        </p:blipFill>
        <p:spPr>
          <a:xfrm>
            <a:off x="5186020" y="1787652"/>
            <a:ext cx="283464" cy="283464"/>
          </a:xfrm>
          <a:prstGeom prst="rect">
            <a:avLst/>
          </a:prstGeom>
        </p:spPr>
      </p:pic>
      <p:sp>
        <p:nvSpPr>
          <p:cNvPr id="9" name="Shape 6"/>
          <p:cNvSpPr/>
          <p:nvPr/>
        </p:nvSpPr>
        <p:spPr>
          <a:xfrm>
            <a:off x="6278728" y="1508760"/>
            <a:ext cx="5364328" cy="4343400"/>
          </a:xfrm>
          <a:prstGeom prst="roundRect">
            <a:avLst>
              <a:gd name="adj" fmla="val 2526"/>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10774375" y="1645920"/>
            <a:ext cx="566928" cy="566928"/>
          </a:xfrm>
          <a:prstGeom prst="ellipse">
            <a:avLst/>
          </a:prstGeom>
          <a:solidFill>
            <a:schemeClr val="accent4"/>
          </a:solidFill>
          <a:ln w="12700">
            <a:solidFill>
              <a:schemeClr val="accent4"/>
            </a:solidFill>
            <a:prstDash val="solid"/>
          </a:ln>
        </p:spPr>
      </p:sp>
      <p:pic>
        <p:nvPicPr>
          <p:cNvPr id="11" name="Image 1" descr="TriangleExclamation">    </p:cNvPr>
          <p:cNvPicPr>
            <a:picLocks noChangeAspect="1"/>
          </p:cNvPicPr>
          <p:nvPr/>
        </p:nvPicPr>
        <p:blipFill>
          <a:blip r:embed="rId2"/>
          <a:stretch>
            <a:fillRect/>
          </a:stretch>
        </p:blipFill>
        <p:spPr>
          <a:xfrm>
            <a:off x="10916107" y="1787652"/>
            <a:ext cx="283464" cy="283464"/>
          </a:xfrm>
          <a:prstGeom prst="rect">
            <a:avLst/>
          </a:prstGeom>
        </p:spPr>
      </p:pic>
      <p:sp>
        <p:nvSpPr>
          <p:cNvPr id="12" name="Text 8"/>
          <p:cNvSpPr txBox="1"/>
          <p:nvPr/>
        </p:nvSpPr>
        <p:spPr>
          <a:xfrm>
            <a:off x="6507328" y="1691640"/>
            <a:ext cx="2926080" cy="411480"/>
          </a:xfrm>
          <a:prstGeom prst="roundRect">
            <a:avLst>
              <a:gd name="adj" fmla="val 22222"/>
            </a:avLst>
          </a:prstGeom>
          <a:solidFill>
            <a:schemeClr val="accent4"/>
          </a:solidFill>
          <a:ln/>
        </p:spPr>
        <p:txBody>
          <a:bodyPr wrap="square" lIns="0" tIns="0" rIns="0" bIns="0" rtlCol="0" anchor="ctr"/>
          <a:lstStyle/>
          <a:p>
            <a:pPr algn="ctr" indent="0" marL="0">
              <a:buNone/>
            </a:pPr>
            <a:r>
              <a:rPr lang="en-US" sz="1600" b="1" dirty="0">
                <a:solidFill>
                  <a:schemeClr val="bg1"/>
                </a:solidFill>
              </a:rPr>
              <a:t>Class B · Title advisories</a:t>
            </a:r>
            <a:endParaRPr lang="en-US" sz="1600" dirty="0"/>
          </a:p>
        </p:txBody>
      </p:sp>
      <p:sp>
        <p:nvSpPr>
          <p:cNvPr id="13" name="Text 9"/>
          <p:cNvSpPr txBox="1"/>
          <p:nvPr/>
        </p:nvSpPr>
        <p:spPr>
          <a:xfrm>
            <a:off x="6507328" y="2194560"/>
            <a:ext cx="4907128" cy="502920"/>
          </a:xfrm>
          <a:prstGeom prst="rect">
            <a:avLst/>
          </a:prstGeom>
          <a:noFill/>
          <a:ln/>
        </p:spPr>
        <p:txBody>
          <a:bodyPr wrap="square" lIns="0" tIns="0" rIns="0" bIns="0" rtlCol="0" anchor="t"/>
          <a:lstStyle/>
          <a:p>
            <a:pPr indent="0" marL="0">
              <a:buNone/>
            </a:pPr>
            <a:r>
              <a:rPr lang="en-US" sz="1400" dirty="0">
                <a:solidFill>
                  <a:srgbClr val="5B7276"/>
                </a:solidFill>
              </a:rPr>
              <a:t>Signals to investigate. Never a ground for refusal.</a:t>
            </a:r>
            <a:endParaRPr lang="en-US" sz="1400" dirty="0"/>
          </a:p>
        </p:txBody>
      </p:sp>
      <p:sp>
        <p:nvSpPr>
          <p:cNvPr id="14" name="Text 10"/>
          <p:cNvSpPr txBox="1"/>
          <p:nvPr/>
        </p:nvSpPr>
        <p:spPr>
          <a:xfrm>
            <a:off x="6507328" y="2743200"/>
            <a:ext cx="4907128" cy="3017520"/>
          </a:xfrm>
          <a:prstGeom prst="rect">
            <a:avLst/>
          </a:prstGeom>
          <a:noFill/>
          <a:ln/>
        </p:spPr>
        <p:txBody>
          <a:bodyPr wrap="square" lIns="635" tIns="635" rIns="635" bIns="635" rtlCol="0" anchor="t"/>
          <a:lstStyle/>
          <a:p>
            <a:pPr marL="177800" indent="-177800">
              <a:spcAft>
                <a:spcPts val="200"/>
              </a:spcAft>
              <a:buSzPct val="100000"/>
              <a:buChar char="•"/>
            </a:pPr>
            <a:r>
              <a:rPr lang="en-US" sz="1400" dirty="0">
                <a:solidFill>
                  <a:schemeClr val="tx1"/>
                </a:solidFill>
              </a:rPr>
              <a:t>B0  Registry cross-check could not run</a:t>
            </a:r>
            <a:endParaRPr lang="en-US" sz="1400" dirty="0"/>
          </a:p>
          <a:p>
            <a:pPr marL="177800" indent="-177800">
              <a:spcAft>
                <a:spcPts val="200"/>
              </a:spcAft>
              <a:buSzPct val="100000"/>
              <a:buChar char="•"/>
            </a:pPr>
            <a:r>
              <a:rPr lang="en-US" sz="1400" dirty="0">
                <a:solidFill>
                  <a:schemeClr val="tx1"/>
                </a:solidFill>
              </a:rPr>
              <a:t>B1  Seller is not the registry's current owner</a:t>
            </a:r>
            <a:endParaRPr lang="en-US" sz="1400" dirty="0"/>
          </a:p>
          <a:p>
            <a:pPr marL="177800" indent="-177800">
              <a:spcAft>
                <a:spcPts val="200"/>
              </a:spcAft>
              <a:buSzPct val="100000"/>
              <a:buChar char="•"/>
            </a:pPr>
            <a:r>
              <a:rPr lang="en-US" sz="1400" dirty="0">
                <a:solidFill>
                  <a:schemeClr val="tx1"/>
                </a:solidFill>
              </a:rPr>
              <a:t>B2  Possible double sale in the registry index</a:t>
            </a:r>
            <a:endParaRPr lang="en-US" sz="1400" dirty="0"/>
          </a:p>
          <a:p>
            <a:pPr marL="177800" indent="-177800">
              <a:spcAft>
                <a:spcPts val="200"/>
              </a:spcAft>
              <a:buSzPct val="100000"/>
              <a:buChar char="•"/>
            </a:pPr>
            <a:r>
              <a:rPr lang="en-US" sz="1400" dirty="0">
                <a:solidFill>
                  <a:schemeClr val="tx1"/>
                </a:solidFill>
              </a:rPr>
              <a:t>B3  Area exceeds the parent deed</a:t>
            </a:r>
            <a:endParaRPr lang="en-US" sz="1400" dirty="0"/>
          </a:p>
          <a:p>
            <a:pPr marL="177800" indent="-177800">
              <a:spcAft>
                <a:spcPts val="200"/>
              </a:spcAft>
              <a:buSzPct val="100000"/>
              <a:buChar char="•"/>
            </a:pPr>
            <a:r>
              <a:rPr lang="en-US" sz="1400" dirty="0">
                <a:solidFill>
                  <a:schemeClr val="tx1"/>
                </a:solidFill>
              </a:rPr>
              <a:t>B4  Boundary differs from the parent deed</a:t>
            </a:r>
            <a:endParaRPr lang="en-US" sz="1400" dirty="0"/>
          </a:p>
          <a:p>
            <a:pPr marL="177800" indent="-177800">
              <a:spcAft>
                <a:spcPts val="200"/>
              </a:spcAft>
              <a:buSzPct val="100000"/>
              <a:buChar char="•"/>
            </a:pPr>
            <a:r>
              <a:rPr lang="en-US" sz="1400" dirty="0">
                <a:solidFill>
                  <a:schemeClr val="tx1"/>
                </a:solidFill>
              </a:rPr>
              <a:t>B5  Dates out of order</a:t>
            </a:r>
            <a:endParaRPr lang="en-US" sz="1400" dirty="0"/>
          </a:p>
          <a:p>
            <a:pPr marL="177800" indent="-177800">
              <a:spcAft>
                <a:spcPts val="200"/>
              </a:spcAft>
              <a:buSzPct val="100000"/>
              <a:buChar char="•"/>
            </a:pPr>
            <a:r>
              <a:rPr lang="en-US" sz="1400" dirty="0">
                <a:solidFill>
                  <a:schemeClr val="tx1"/>
                </a:solidFill>
              </a:rPr>
              <a:t>B6  Possible same person, spelled differently</a:t>
            </a:r>
            <a:endParaRPr lang="en-US" sz="1400" dirty="0"/>
          </a:p>
          <a:p>
            <a:pPr marL="177800" indent="-177800">
              <a:spcAft>
                <a:spcPts val="200"/>
              </a:spcAft>
              <a:buSzPct val="100000"/>
              <a:buChar char="•"/>
            </a:pPr>
            <a:r>
              <a:rPr lang="en-US" sz="1400" dirty="0">
                <a:solidFill>
                  <a:schemeClr val="tx1"/>
                </a:solidFill>
              </a:rPr>
              <a:t>B7  Unregistered instrument in the chain</a:t>
            </a:r>
            <a:endParaRPr lang="en-US" sz="1400" dirty="0"/>
          </a:p>
          <a:p>
            <a:pPr marL="177800" indent="-177800">
              <a:spcAft>
                <a:spcPts val="200"/>
              </a:spcAft>
              <a:buSzPct val="100000"/>
              <a:buChar char="•"/>
            </a:pPr>
            <a:r>
              <a:rPr lang="en-US" sz="1400" dirty="0">
                <a:solidFill>
                  <a:schemeClr val="tx1"/>
                </a:solidFill>
              </a:rPr>
              <a:t>B8  Encumbrance recorded in the registry</a:t>
            </a:r>
            <a:endParaRPr lang="en-US" sz="1400" dirty="0"/>
          </a:p>
        </p:txBody>
      </p:sp>
      <p:sp>
        <p:nvSpPr>
          <p:cNvPr id="15" name="Text 11"/>
          <p:cNvSpPr txBox="1"/>
          <p:nvPr/>
        </p:nvSpPr>
        <p:spPr>
          <a:xfrm>
            <a:off x="548640" y="5943600"/>
            <a:ext cx="11094415" cy="457200"/>
          </a:xfrm>
          <a:prstGeom prst="rect">
            <a:avLst/>
          </a:prstGeom>
          <a:noFill/>
          <a:ln/>
        </p:spPr>
        <p:txBody>
          <a:bodyPr wrap="square" lIns="0" tIns="0" rIns="0" bIns="0" rtlCol="0" anchor="t"/>
          <a:lstStyle/>
          <a:p>
            <a:pPr indent="0" marL="0">
              <a:buNone/>
            </a:pPr>
            <a:r>
              <a:rPr lang="en-US" sz="1200" dirty="0">
                <a:solidFill>
                  <a:srgbClr val="5B7276"/>
                </a:solidFill>
              </a:rPr>
              <a:t>A chain gap explained by a succession document raises no B1 (our decoy case). A mock registry index stands in for NGDRS and land-stack APIs. Rules are heuristics, not legal conclusions.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Every finding shows its source</a:t>
            </a:r>
            <a:endParaRPr lang="en-US" sz="3600" dirty="0"/>
          </a:p>
        </p:txBody>
      </p:sp>
      <p:sp>
        <p:nvSpPr>
          <p:cNvPr id="3" name="Shape 1"/>
          <p:cNvSpPr/>
          <p:nvPr/>
        </p:nvSpPr>
        <p:spPr>
          <a:xfrm>
            <a:off x="548640" y="1554480"/>
            <a:ext cx="6583680" cy="4480560"/>
          </a:xfrm>
          <a:prstGeom prst="roundRect">
            <a:avLst>
              <a:gd name="adj" fmla="val 244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828800"/>
            <a:ext cx="640080" cy="365760"/>
          </a:xfrm>
          <a:prstGeom prst="roundRect">
            <a:avLst>
              <a:gd name="adj" fmla="val 25000"/>
            </a:avLst>
          </a:prstGeom>
          <a:solidFill>
            <a:srgbClr val="FFF1F2"/>
          </a:solidFill>
          <a:ln w="12700">
            <a:solidFill>
              <a:srgbClr val="FECDD3"/>
            </a:solidFill>
          </a:ln>
        </p:spPr>
        <p:txBody>
          <a:bodyPr wrap="square" lIns="0" tIns="0" rIns="0" bIns="0" rtlCol="0" anchor="ctr"/>
          <a:lstStyle/>
          <a:p>
            <a:pPr algn="ctr" indent="0" marL="0">
              <a:buNone/>
            </a:pPr>
            <a:r>
              <a:rPr lang="en-US" sz="1400" b="1" dirty="0">
                <a:solidFill>
                  <a:srgbClr val="9F1239"/>
                </a:solidFill>
              </a:rPr>
              <a:t>A1</a:t>
            </a:r>
            <a:endParaRPr lang="en-US" sz="1400" dirty="0"/>
          </a:p>
        </p:txBody>
      </p:sp>
      <p:sp>
        <p:nvSpPr>
          <p:cNvPr id="5" name="Text 3"/>
          <p:cNvSpPr txBox="1"/>
          <p:nvPr/>
        </p:nvSpPr>
        <p:spPr>
          <a:xfrm>
            <a:off x="1600200" y="1737360"/>
            <a:ext cx="5303520" cy="640080"/>
          </a:xfrm>
          <a:prstGeom prst="rect">
            <a:avLst/>
          </a:prstGeom>
          <a:noFill/>
          <a:ln/>
        </p:spPr>
        <p:txBody>
          <a:bodyPr wrap="square" lIns="0" tIns="0" rIns="0" bIns="0" rtlCol="0" anchor="ctr"/>
          <a:lstStyle/>
          <a:p>
            <a:pPr indent="0" marL="0">
              <a:buNone/>
            </a:pPr>
            <a:r>
              <a:rPr lang="en-US" sz="1800" b="1" dirty="0">
                <a:solidFill>
                  <a:schemeClr val="tx1"/>
                </a:solidFill>
              </a:rPr>
              <a:t>Power of attorney has no registration number</a:t>
            </a:r>
            <a:endParaRPr lang="en-US" sz="1800" dirty="0"/>
          </a:p>
        </p:txBody>
      </p:sp>
      <p:sp>
        <p:nvSpPr>
          <p:cNvPr id="6" name="Text 4"/>
          <p:cNvSpPr txBox="1"/>
          <p:nvPr/>
        </p:nvSpPr>
        <p:spPr>
          <a:xfrm>
            <a:off x="822960" y="2423160"/>
            <a:ext cx="2743200" cy="365760"/>
          </a:xfrm>
          <a:prstGeom prst="roundRect">
            <a:avLst>
              <a:gd name="adj" fmla="val 25000"/>
            </a:avLst>
          </a:prstGeom>
          <a:solidFill>
            <a:srgbClr val="FFF1F2"/>
          </a:solidFill>
          <a:ln w="12700">
            <a:solidFill>
              <a:srgbClr val="FECDD3"/>
            </a:solidFill>
          </a:ln>
        </p:spPr>
        <p:txBody>
          <a:bodyPr wrap="square" lIns="0" tIns="0" rIns="0" bIns="0" rtlCol="0" anchor="ctr"/>
          <a:lstStyle/>
          <a:p>
            <a:pPr algn="ctr" indent="0" marL="0">
              <a:buNone/>
            </a:pPr>
            <a:r>
              <a:rPr lang="en-US" sz="1400" b="1" dirty="0">
                <a:solidFill>
                  <a:srgbClr val="9F1239"/>
                </a:solidFill>
              </a:rPr>
              <a:t>🛑 Class A · Registrability</a:t>
            </a:r>
            <a:endParaRPr lang="en-US" sz="1400" dirty="0"/>
          </a:p>
        </p:txBody>
      </p:sp>
      <p:sp>
        <p:nvSpPr>
          <p:cNvPr id="7" name="Text 5"/>
          <p:cNvSpPr txBox="1"/>
          <p:nvPr/>
        </p:nvSpPr>
        <p:spPr>
          <a:xfrm>
            <a:off x="3703320" y="2423160"/>
            <a:ext cx="3200400" cy="365760"/>
          </a:xfrm>
          <a:prstGeom prst="rect">
            <a:avLst/>
          </a:prstGeom>
          <a:noFill/>
          <a:ln/>
        </p:spPr>
        <p:txBody>
          <a:bodyPr wrap="square" lIns="0" tIns="0" rIns="0" bIns="0" rtlCol="0" anchor="ctr"/>
          <a:lstStyle/>
          <a:p>
            <a:pPr indent="0" marL="0">
              <a:buNone/>
            </a:pPr>
            <a:r>
              <a:rPr lang="en-US" sz="1200" dirty="0">
                <a:solidFill>
                  <a:srgbClr val="5B7276"/>
                </a:solidFill>
              </a:rPr>
              <a:t>POA_REGISTRATION_MISSING</a:t>
            </a:r>
            <a:endParaRPr lang="en-US" sz="1200" dirty="0"/>
          </a:p>
        </p:txBody>
      </p:sp>
      <p:sp>
        <p:nvSpPr>
          <p:cNvPr id="8" name="Shape 6"/>
          <p:cNvSpPr/>
          <p:nvPr/>
        </p:nvSpPr>
        <p:spPr>
          <a:xfrm>
            <a:off x="822960" y="3063240"/>
            <a:ext cx="6035040" cy="1143000"/>
          </a:xfrm>
          <a:prstGeom prst="roundRect">
            <a:avLst>
              <a:gd name="adj" fmla="val 9600"/>
            </a:avLst>
          </a:prstGeom>
          <a:solidFill>
            <a:srgbClr val="F0FDFA"/>
          </a:solidFill>
          <a:ln w="12700">
            <a:solidFill>
              <a:srgbClr val="99F6E4"/>
            </a:solidFill>
            <a:prstDash val="solid"/>
          </a:ln>
        </p:spPr>
      </p:sp>
      <p:sp>
        <p:nvSpPr>
          <p:cNvPr id="9" name="Text 7"/>
          <p:cNvSpPr txBox="1"/>
          <p:nvPr/>
        </p:nvSpPr>
        <p:spPr>
          <a:xfrm>
            <a:off x="1005840" y="3154680"/>
            <a:ext cx="2743200" cy="320040"/>
          </a:xfrm>
          <a:prstGeom prst="rect">
            <a:avLst/>
          </a:prstGeom>
          <a:noFill/>
          <a:ln/>
        </p:spPr>
        <p:txBody>
          <a:bodyPr wrap="square" lIns="0" tIns="0" rIns="0" bIns="0" rtlCol="0" anchor="t"/>
          <a:lstStyle/>
          <a:p>
            <a:pPr indent="0" marL="0">
              <a:buNone/>
            </a:pPr>
            <a:r>
              <a:rPr lang="en-US" sz="1400" b="1" dirty="0">
                <a:solidFill>
                  <a:schemeClr val="tx2"/>
                </a:solidFill>
              </a:rPr>
              <a:t>📍 Page 1</a:t>
            </a:r>
            <a:endParaRPr lang="en-US" sz="1400" dirty="0"/>
          </a:p>
        </p:txBody>
      </p:sp>
      <p:sp>
        <p:nvSpPr>
          <p:cNvPr id="10" name="Text 8"/>
          <p:cNvSpPr txBox="1"/>
          <p:nvPr/>
        </p:nvSpPr>
        <p:spPr>
          <a:xfrm>
            <a:off x="1005840" y="3520440"/>
            <a:ext cx="5669280" cy="594360"/>
          </a:xfrm>
          <a:prstGeom prst="rect">
            <a:avLst/>
          </a:prstGeom>
          <a:noFill/>
          <a:ln/>
        </p:spPr>
        <p:txBody>
          <a:bodyPr wrap="square" lIns="0" tIns="0" rIns="0" bIns="0" rtlCol="0" anchor="t"/>
          <a:lstStyle/>
          <a:p>
            <a:pPr indent="0" marL="0">
              <a:buNone/>
            </a:pPr>
            <a:r>
              <a:rPr lang="en-US" sz="1600" dirty="0">
                <a:solidFill>
                  <a:srgbClr val="35514F"/>
                </a:solidFill>
              </a:rPr>
              <a:t>“…acting through his duly constituted attorney Anil…”</a:t>
            </a:r>
            <a:endParaRPr lang="en-US" sz="1600" dirty="0"/>
          </a:p>
        </p:txBody>
      </p:sp>
      <p:sp>
        <p:nvSpPr>
          <p:cNvPr id="11" name="Text 9"/>
          <p:cNvSpPr txBox="1"/>
          <p:nvPr/>
        </p:nvSpPr>
        <p:spPr>
          <a:xfrm>
            <a:off x="822960" y="4389120"/>
            <a:ext cx="6035040" cy="731520"/>
          </a:xfrm>
          <a:prstGeom prst="rect">
            <a:avLst/>
          </a:prstGeom>
          <a:noFill/>
          <a:ln/>
        </p:spPr>
        <p:txBody>
          <a:bodyPr wrap="square" lIns="0" tIns="0" rIns="0" bIns="0" rtlCol="0" anchor="t"/>
          <a:lstStyle/>
          <a:p>
            <a:pPr indent="0" marL="0">
              <a:buNone/>
            </a:pPr>
            <a:r>
              <a:rPr lang="en-US" sz="1400" dirty="0">
                <a:solidFill>
                  <a:schemeClr val="tx1"/>
                </a:solidFill>
              </a:rPr>
              <a:t>Why it matters: the deed was executed through an attorney, but gives no registration number for that power of attorney.</a:t>
            </a:r>
            <a:endParaRPr lang="en-US" sz="1400" dirty="0"/>
          </a:p>
        </p:txBody>
      </p:sp>
      <p:sp>
        <p:nvSpPr>
          <p:cNvPr id="12" name="Text 10"/>
          <p:cNvSpPr txBox="1"/>
          <p:nvPr/>
        </p:nvSpPr>
        <p:spPr>
          <a:xfrm>
            <a:off x="822960" y="5166360"/>
            <a:ext cx="6035040" cy="548640"/>
          </a:xfrm>
          <a:prstGeom prst="rect">
            <a:avLst/>
          </a:prstGeom>
          <a:noFill/>
          <a:ln/>
        </p:spPr>
        <p:txBody>
          <a:bodyPr wrap="square" lIns="0" tIns="0" rIns="0" bIns="0" rtlCol="0" anchor="t"/>
          <a:lstStyle/>
          <a:p>
            <a:pPr indent="0" marL="0">
              <a:buNone/>
            </a:pPr>
            <a:r>
              <a:rPr lang="en-US" sz="1400" b="1" dirty="0">
                <a:solidFill>
                  <a:schemeClr val="tx2"/>
                </a:solidFill>
              </a:rPr>
              <a:t>Next step: obtain the registered power of attorney and its registration number.</a:t>
            </a:r>
            <a:endParaRPr lang="en-US" sz="1400" dirty="0"/>
          </a:p>
        </p:txBody>
      </p:sp>
      <p:sp>
        <p:nvSpPr>
          <p:cNvPr id="13" name="Shape 11"/>
          <p:cNvSpPr/>
          <p:nvPr/>
        </p:nvSpPr>
        <p:spPr>
          <a:xfrm>
            <a:off x="7452360" y="1554480"/>
            <a:ext cx="4190695" cy="1371600"/>
          </a:xfrm>
          <a:prstGeom prst="roundRect">
            <a:avLst>
              <a:gd name="adj" fmla="val 8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7635240" y="173736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Text 13"/>
          <p:cNvSpPr txBox="1"/>
          <p:nvPr/>
        </p:nvSpPr>
        <p:spPr>
          <a:xfrm>
            <a:off x="8183880" y="1691640"/>
            <a:ext cx="3276295" cy="411480"/>
          </a:xfrm>
          <a:prstGeom prst="rect">
            <a:avLst/>
          </a:prstGeom>
          <a:noFill/>
          <a:ln/>
        </p:spPr>
        <p:txBody>
          <a:bodyPr wrap="square" lIns="0" tIns="0" rIns="0" bIns="0" rtlCol="0" anchor="t"/>
          <a:lstStyle/>
          <a:p>
            <a:pPr indent="0" marL="0">
              <a:buNone/>
            </a:pPr>
            <a:r>
              <a:rPr lang="en-US" sz="1800" b="1" dirty="0">
                <a:solidFill>
                  <a:schemeClr val="tx2"/>
                </a:solidFill>
              </a:rPr>
              <a:t>Check my documents</a:t>
            </a:r>
            <a:endParaRPr lang="en-US" sz="1800" dirty="0"/>
          </a:p>
        </p:txBody>
      </p:sp>
      <p:sp>
        <p:nvSpPr>
          <p:cNvPr id="16" name="Text 14"/>
          <p:cNvSpPr txBox="1"/>
          <p:nvPr/>
        </p:nvSpPr>
        <p:spPr>
          <a:xfrm>
            <a:off x="8183880" y="2121408"/>
            <a:ext cx="3276295" cy="731520"/>
          </a:xfrm>
          <a:prstGeom prst="rect">
            <a:avLst/>
          </a:prstGeom>
          <a:noFill/>
          <a:ln/>
        </p:spPr>
        <p:txBody>
          <a:bodyPr wrap="square" lIns="0" tIns="0" rIns="0" bIns="0" rtlCol="0" anchor="t"/>
          <a:lstStyle/>
          <a:p>
            <a:pPr indent="0" marL="0">
              <a:buNone/>
            </a:pPr>
            <a:r>
              <a:rPr lang="en-US" sz="1400" dirty="0">
                <a:solidFill>
                  <a:srgbClr val="5B7276"/>
                </a:solidFill>
              </a:rPr>
              <a:t>Findings, fields read with confidence, ask-your-seller list, advocate brief</a:t>
            </a:r>
            <a:endParaRPr lang="en-US" sz="1400" dirty="0"/>
          </a:p>
        </p:txBody>
      </p:sp>
      <p:sp>
        <p:nvSpPr>
          <p:cNvPr id="17" name="Shape 15"/>
          <p:cNvSpPr/>
          <p:nvPr/>
        </p:nvSpPr>
        <p:spPr>
          <a:xfrm>
            <a:off x="7452360" y="3108960"/>
            <a:ext cx="4190695" cy="1371600"/>
          </a:xfrm>
          <a:prstGeom prst="roundRect">
            <a:avLst>
              <a:gd name="adj" fmla="val 8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7635240" y="329184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7"/>
          <p:cNvSpPr txBox="1"/>
          <p:nvPr/>
        </p:nvSpPr>
        <p:spPr>
          <a:xfrm>
            <a:off x="8183880" y="3246120"/>
            <a:ext cx="3276295" cy="411480"/>
          </a:xfrm>
          <a:prstGeom prst="rect">
            <a:avLst/>
          </a:prstGeom>
          <a:noFill/>
          <a:ln/>
        </p:spPr>
        <p:txBody>
          <a:bodyPr wrap="square" lIns="0" tIns="0" rIns="0" bIns="0" rtlCol="0" anchor="t"/>
          <a:lstStyle/>
          <a:p>
            <a:pPr indent="0" marL="0">
              <a:buNone/>
            </a:pPr>
            <a:r>
              <a:rPr lang="en-US" sz="1800" b="1" dirty="0">
                <a:solidFill>
                  <a:schemeClr val="tx2"/>
                </a:solidFill>
              </a:rPr>
              <a:t>Officer console</a:t>
            </a:r>
            <a:endParaRPr lang="en-US" sz="1800" dirty="0"/>
          </a:p>
        </p:txBody>
      </p:sp>
      <p:sp>
        <p:nvSpPr>
          <p:cNvPr id="20" name="Text 18"/>
          <p:cNvSpPr txBox="1"/>
          <p:nvPr/>
        </p:nvSpPr>
        <p:spPr>
          <a:xfrm>
            <a:off x="8183880" y="3675888"/>
            <a:ext cx="3276295" cy="731520"/>
          </a:xfrm>
          <a:prstGeom prst="rect">
            <a:avLst/>
          </a:prstGeom>
          <a:noFill/>
          <a:ln/>
        </p:spPr>
        <p:txBody>
          <a:bodyPr wrap="square" lIns="0" tIns="0" rIns="0" bIns="0" rtlCol="0" anchor="t"/>
          <a:lstStyle/>
          <a:p>
            <a:pPr indent="0" marL="0">
              <a:buNone/>
            </a:pPr>
            <a:r>
              <a:rPr lang="en-US" sz="1400" dirty="0">
                <a:solidFill>
                  <a:srgbClr val="5B7276"/>
                </a:solidFill>
              </a:rPr>
              <a:t>A disposition and a reason for every flag, then a signed receipt</a:t>
            </a:r>
            <a:endParaRPr lang="en-US" sz="1400" dirty="0"/>
          </a:p>
        </p:txBody>
      </p:sp>
      <p:sp>
        <p:nvSpPr>
          <p:cNvPr id="21" name="Shape 19"/>
          <p:cNvSpPr/>
          <p:nvPr/>
        </p:nvSpPr>
        <p:spPr>
          <a:xfrm>
            <a:off x="7452360" y="4663440"/>
            <a:ext cx="4190695" cy="1371600"/>
          </a:xfrm>
          <a:prstGeom prst="roundRect">
            <a:avLst>
              <a:gd name="adj" fmla="val 8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7635240" y="484632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3" name="Text 21"/>
          <p:cNvSpPr txBox="1"/>
          <p:nvPr/>
        </p:nvSpPr>
        <p:spPr>
          <a:xfrm>
            <a:off x="8183880" y="4800600"/>
            <a:ext cx="3276295" cy="411480"/>
          </a:xfrm>
          <a:prstGeom prst="rect">
            <a:avLst/>
          </a:prstGeom>
          <a:noFill/>
          <a:ln/>
        </p:spPr>
        <p:txBody>
          <a:bodyPr wrap="square" lIns="0" tIns="0" rIns="0" bIns="0" rtlCol="0" anchor="t"/>
          <a:lstStyle/>
          <a:p>
            <a:pPr indent="0" marL="0">
              <a:buNone/>
            </a:pPr>
            <a:r>
              <a:rPr lang="en-US" sz="1800" b="1" dirty="0">
                <a:solidFill>
                  <a:schemeClr val="tx2"/>
                </a:solidFill>
              </a:rPr>
              <a:t>Decision ledger</a:t>
            </a:r>
            <a:endParaRPr lang="en-US" sz="1800" dirty="0"/>
          </a:p>
        </p:txBody>
      </p:sp>
      <p:sp>
        <p:nvSpPr>
          <p:cNvPr id="24" name="Text 22"/>
          <p:cNvSpPr txBox="1"/>
          <p:nvPr/>
        </p:nvSpPr>
        <p:spPr>
          <a:xfrm>
            <a:off x="8183880" y="5230368"/>
            <a:ext cx="3276295" cy="731520"/>
          </a:xfrm>
          <a:prstGeom prst="rect">
            <a:avLst/>
          </a:prstGeom>
          <a:noFill/>
          <a:ln/>
        </p:spPr>
        <p:txBody>
          <a:bodyPr wrap="square" lIns="0" tIns="0" rIns="0" bIns="0" rtlCol="0" anchor="t"/>
          <a:lstStyle/>
          <a:p>
            <a:pPr indent="0" marL="0">
              <a:buNone/>
            </a:pPr>
            <a:r>
              <a:rPr lang="en-US" sz="1400" dirty="0">
                <a:solidFill>
                  <a:srgbClr val="5B7276"/>
                </a:solidFill>
              </a:rPr>
              <a:t>Chain view, one-click verify, and a tamper test on a copy</a:t>
            </a:r>
            <a:endParaRPr lang="en-US" sz="1400" dirty="0"/>
          </a:p>
        </p:txBody>
      </p:sp>
      <p:sp>
        <p:nvSpPr>
          <p:cNvPr id="25" name="Text 23"/>
          <p:cNvSpPr txBox="1"/>
          <p:nvPr/>
        </p:nvSpPr>
        <p:spPr>
          <a:xfrm>
            <a:off x="548640" y="6080760"/>
            <a:ext cx="4572000" cy="274320"/>
          </a:xfrm>
          <a:prstGeom prst="rect">
            <a:avLst/>
          </a:prstGeom>
          <a:noFill/>
          <a:ln/>
        </p:spPr>
        <p:txBody>
          <a:bodyPr wrap="square" lIns="0" tIns="0" rIns="0" bIns="0" rtlCol="0" anchor="t"/>
          <a:lstStyle/>
          <a:p>
            <a:pPr indent="0" marL="0">
              <a:buNone/>
            </a:pPr>
            <a:r>
              <a:rPr lang="en-US" sz="1100" dirty="0">
                <a:solidFill>
                  <a:srgbClr val="5B7276"/>
                </a:solidFill>
              </a:rPr>
              <a:t>Example from a synthetic sample deed.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The app, as built</a:t>
            </a:r>
            <a:endParaRPr lang="en-US" sz="3600" dirty="0"/>
          </a:p>
        </p:txBody>
      </p:sp>
      <p:sp>
        <p:nvSpPr>
          <p:cNvPr id="3" name="Shape 1"/>
          <p:cNvSpPr/>
          <p:nvPr/>
        </p:nvSpPr>
        <p:spPr>
          <a:xfrm>
            <a:off x="548640" y="1463040"/>
            <a:ext cx="6126480" cy="4480560"/>
          </a:xfrm>
          <a:prstGeom prst="roundRect">
            <a:avLst>
              <a:gd name="adj" fmla="val 244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pic>
        <p:nvPicPr>
          <p:cNvPr id="4" name="Image 0" descr="Bhoomi Kaaval home page">    </p:cNvPr>
          <p:cNvPicPr>
            <a:picLocks noChangeAspect="1"/>
          </p:cNvPicPr>
          <p:nvPr/>
        </p:nvPicPr>
        <p:blipFill>
          <a:blip r:embed="rId1"/>
          <a:stretch>
            <a:fillRect/>
          </a:stretch>
        </p:blipFill>
        <p:spPr>
          <a:xfrm>
            <a:off x="685800" y="1600200"/>
            <a:ext cx="5852160" cy="2834640"/>
          </a:xfrm>
          <a:prstGeom prst="rect">
            <a:avLst/>
          </a:prstGeom>
        </p:spPr>
      </p:pic>
      <p:sp>
        <p:nvSpPr>
          <p:cNvPr id="5" name="Text 2"/>
          <p:cNvSpPr txBox="1"/>
          <p:nvPr/>
        </p:nvSpPr>
        <p:spPr>
          <a:xfrm>
            <a:off x="731520" y="4526280"/>
            <a:ext cx="5760720" cy="365760"/>
          </a:xfrm>
          <a:prstGeom prst="rect">
            <a:avLst/>
          </a:prstGeom>
          <a:noFill/>
          <a:ln/>
        </p:spPr>
        <p:txBody>
          <a:bodyPr wrap="square" lIns="0" tIns="0" rIns="0" bIns="0" rtlCol="0" anchor="t"/>
          <a:lstStyle/>
          <a:p>
            <a:pPr indent="0" marL="0">
              <a:buNone/>
            </a:pPr>
            <a:r>
              <a:rPr lang="en-US" sz="1800" b="1" dirty="0">
                <a:solidFill>
                  <a:schemeClr val="tx2"/>
                </a:solidFill>
              </a:rPr>
              <a:t>Home</a:t>
            </a:r>
            <a:endParaRPr lang="en-US" sz="1800" dirty="0"/>
          </a:p>
        </p:txBody>
      </p:sp>
      <p:sp>
        <p:nvSpPr>
          <p:cNvPr id="6" name="Text 3"/>
          <p:cNvSpPr txBox="1"/>
          <p:nvPr/>
        </p:nvSpPr>
        <p:spPr>
          <a:xfrm>
            <a:off x="731520" y="4937760"/>
            <a:ext cx="5760720" cy="868680"/>
          </a:xfrm>
          <a:prstGeom prst="rect">
            <a:avLst/>
          </a:prstGeom>
          <a:noFill/>
          <a:ln/>
        </p:spPr>
        <p:txBody>
          <a:bodyPr wrap="square" lIns="0" tIns="0" rIns="0" bIns="0" rtlCol="0" anchor="t"/>
          <a:lstStyle/>
          <a:p>
            <a:pPr indent="0" marL="0">
              <a:buNone/>
            </a:pPr>
            <a:r>
              <a:rPr lang="en-US" sz="1400" dirty="0">
                <a:solidFill>
                  <a:srgbClr val="5B7276"/>
                </a:solidFill>
              </a:rPr>
              <a:t>A website-style landing page: what it does, three simple steps, why it can be trusted, and what it never does.</a:t>
            </a:r>
            <a:endParaRPr lang="en-US" sz="1400" dirty="0"/>
          </a:p>
        </p:txBody>
      </p:sp>
      <p:sp>
        <p:nvSpPr>
          <p:cNvPr id="7" name="Shape 4"/>
          <p:cNvSpPr/>
          <p:nvPr/>
        </p:nvSpPr>
        <p:spPr>
          <a:xfrm>
            <a:off x="6903720" y="1463040"/>
            <a:ext cx="4739335" cy="2148840"/>
          </a:xfrm>
          <a:prstGeom prst="roundRect">
            <a:avLst>
              <a:gd name="adj" fmla="val 5106"/>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pic>
        <p:nvPicPr>
          <p:cNvPr id="8" name="Image 1" descr="Findings screen">    </p:cNvPr>
          <p:cNvPicPr>
            <a:picLocks noChangeAspect="1"/>
          </p:cNvPicPr>
          <p:nvPr/>
        </p:nvPicPr>
        <p:blipFill>
          <a:blip r:embed="rId2"/>
          <a:stretch>
            <a:fillRect/>
          </a:stretch>
        </p:blipFill>
        <p:spPr>
          <a:xfrm>
            <a:off x="7040880" y="1572768"/>
            <a:ext cx="4465015" cy="1627870"/>
          </a:xfrm>
          <a:prstGeom prst="rect">
            <a:avLst/>
          </a:prstGeom>
        </p:spPr>
      </p:pic>
      <p:sp>
        <p:nvSpPr>
          <p:cNvPr id="9" name="Text 5"/>
          <p:cNvSpPr txBox="1"/>
          <p:nvPr/>
        </p:nvSpPr>
        <p:spPr>
          <a:xfrm>
            <a:off x="7086600" y="3255264"/>
            <a:ext cx="4373575" cy="292608"/>
          </a:xfrm>
          <a:prstGeom prst="rect">
            <a:avLst/>
          </a:prstGeom>
          <a:noFill/>
          <a:ln/>
        </p:spPr>
        <p:txBody>
          <a:bodyPr wrap="square" lIns="0" tIns="0" rIns="0" bIns="0" rtlCol="0" anchor="t"/>
          <a:lstStyle/>
          <a:p>
            <a:pPr indent="0" marL="0">
              <a:buNone/>
            </a:pPr>
            <a:r>
              <a:rPr lang="en-US" sz="1300" dirty="0">
                <a:solidFill>
                  <a:srgbClr val="5B7276"/>
                </a:solidFill>
              </a:rPr>
              <a:t>Findings, each with its page and quote</a:t>
            </a:r>
            <a:endParaRPr lang="en-US" sz="1300" dirty="0"/>
          </a:p>
        </p:txBody>
      </p:sp>
      <p:sp>
        <p:nvSpPr>
          <p:cNvPr id="10" name="Shape 6"/>
          <p:cNvSpPr/>
          <p:nvPr/>
        </p:nvSpPr>
        <p:spPr>
          <a:xfrm>
            <a:off x="6903720" y="3749040"/>
            <a:ext cx="4739335"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pic>
        <p:nvPicPr>
          <p:cNvPr id="11" name="Image 2" descr="Ledger screen">    </p:cNvPr>
          <p:cNvPicPr>
            <a:picLocks noChangeAspect="1"/>
          </p:cNvPicPr>
          <p:nvPr/>
        </p:nvPicPr>
        <p:blipFill>
          <a:blip r:embed="rId3"/>
          <a:stretch>
            <a:fillRect/>
          </a:stretch>
        </p:blipFill>
        <p:spPr>
          <a:xfrm>
            <a:off x="7040880" y="3858768"/>
            <a:ext cx="4465015" cy="1372062"/>
          </a:xfrm>
          <a:prstGeom prst="rect">
            <a:avLst/>
          </a:prstGeom>
        </p:spPr>
      </p:pic>
      <p:sp>
        <p:nvSpPr>
          <p:cNvPr id="12" name="Text 7"/>
          <p:cNvSpPr txBox="1"/>
          <p:nvPr/>
        </p:nvSpPr>
        <p:spPr>
          <a:xfrm>
            <a:off x="7086600" y="5349240"/>
            <a:ext cx="4373575" cy="292608"/>
          </a:xfrm>
          <a:prstGeom prst="rect">
            <a:avLst/>
          </a:prstGeom>
          <a:noFill/>
          <a:ln/>
        </p:spPr>
        <p:txBody>
          <a:bodyPr wrap="square" lIns="0" tIns="0" rIns="0" bIns="0" rtlCol="0" anchor="t"/>
          <a:lstStyle/>
          <a:p>
            <a:pPr indent="0" marL="0">
              <a:buNone/>
            </a:pPr>
            <a:r>
              <a:rPr lang="en-US" sz="1300" dirty="0">
                <a:solidFill>
                  <a:srgbClr val="5B7276"/>
                </a:solidFill>
              </a:rPr>
              <a:t>Ledger chain and the tamper alert</a:t>
            </a:r>
            <a:endParaRPr lang="en-US" sz="1300" dirty="0"/>
          </a:p>
        </p:txBody>
      </p:sp>
      <p:sp>
        <p:nvSpPr>
          <p:cNvPr id="13" name="Text 8"/>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100" dirty="0">
                <a:solidFill>
                  <a:srgbClr val="5B7276"/>
                </a:solidFill>
              </a:rPr>
              <a:t>Rendered from the app's own pages and styles (synthetic sample data).</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Safe by design, provable by log</a:t>
            </a:r>
            <a:endParaRPr lang="en-US" sz="3600" dirty="0"/>
          </a:p>
        </p:txBody>
      </p:sp>
      <p:sp>
        <p:nvSpPr>
          <p:cNvPr id="3" name="Shape 1"/>
          <p:cNvSpPr/>
          <p:nvPr/>
        </p:nvSpPr>
        <p:spPr>
          <a:xfrm>
            <a:off x="548640" y="1508760"/>
            <a:ext cx="5120640"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4800600" y="1645920"/>
            <a:ext cx="566928" cy="566928"/>
          </a:xfrm>
          <a:prstGeom prst="ellipse">
            <a:avLst/>
          </a:prstGeom>
          <a:solidFill>
            <a:schemeClr val="accent1"/>
          </a:solidFill>
          <a:ln w="12700">
            <a:solidFill>
              <a:schemeClr val="accent1"/>
            </a:solidFill>
            <a:prstDash val="solid"/>
          </a:ln>
        </p:spPr>
      </p:sp>
      <p:pic>
        <p:nvPicPr>
          <p:cNvPr id="5" name="Image 0" descr="ShieldHalved">    </p:cNvPr>
          <p:cNvPicPr>
            <a:picLocks noChangeAspect="1"/>
          </p:cNvPicPr>
          <p:nvPr/>
        </p:nvPicPr>
        <p:blipFill>
          <a:blip r:embed="rId1"/>
          <a:stretch>
            <a:fillRect/>
          </a:stretch>
        </p:blipFill>
        <p:spPr>
          <a:xfrm>
            <a:off x="4942332" y="1787652"/>
            <a:ext cx="283464" cy="283464"/>
          </a:xfrm>
          <a:prstGeom prst="rect">
            <a:avLst/>
          </a:prstGeom>
        </p:spPr>
      </p:pic>
      <p:sp>
        <p:nvSpPr>
          <p:cNvPr id="6" name="Text 3"/>
          <p:cNvSpPr txBox="1"/>
          <p:nvPr/>
        </p:nvSpPr>
        <p:spPr>
          <a:xfrm>
            <a:off x="822960" y="1645920"/>
            <a:ext cx="4572000" cy="457200"/>
          </a:xfrm>
          <a:prstGeom prst="rect">
            <a:avLst/>
          </a:prstGeom>
          <a:noFill/>
          <a:ln/>
        </p:spPr>
        <p:txBody>
          <a:bodyPr wrap="square" lIns="0" tIns="0" rIns="0" bIns="0" rtlCol="0" anchor="t"/>
          <a:lstStyle/>
          <a:p>
            <a:pPr indent="0" marL="0">
              <a:buNone/>
            </a:pPr>
            <a:r>
              <a:rPr lang="en-US" sz="2200" b="1" dirty="0">
                <a:solidFill>
                  <a:schemeClr val="tx2"/>
                </a:solidFill>
              </a:rPr>
              <a:t>Safe by design</a:t>
            </a:r>
            <a:endParaRPr lang="en-US" sz="2200" dirty="0"/>
          </a:p>
        </p:txBody>
      </p:sp>
      <p:sp>
        <p:nvSpPr>
          <p:cNvPr id="7" name="Text 4"/>
          <p:cNvSpPr txBox="1"/>
          <p:nvPr/>
        </p:nvSpPr>
        <p:spPr>
          <a:xfrm>
            <a:off x="822960" y="2240280"/>
            <a:ext cx="4572000" cy="2743200"/>
          </a:xfrm>
          <a:prstGeom prst="rect">
            <a:avLst/>
          </a:prstGeom>
          <a:noFill/>
          <a:ln/>
        </p:spPr>
        <p:txBody>
          <a:bodyPr wrap="square" lIns="635" tIns="635" rIns="635" bIns="635" rtlCol="0" anchor="t"/>
          <a:lstStyle/>
          <a:p>
            <a:pPr marL="177800" indent="-177800">
              <a:spcAft>
                <a:spcPts val="1000"/>
              </a:spcAft>
              <a:buSzPct val="100000"/>
              <a:buChar char="•"/>
            </a:pPr>
            <a:r>
              <a:rPr lang="en-US" sz="1600" dirty="0">
                <a:solidFill>
                  <a:schemeClr val="tx1"/>
                </a:solidFill>
              </a:rPr>
              <a:t>Aadhaar and PAN numbers are masked before any image is sent to a model</a:t>
            </a:r>
            <a:endParaRPr lang="en-US" sz="1600" dirty="0"/>
          </a:p>
          <a:p>
            <a:pPr marL="177800" indent="-177800">
              <a:spcAft>
                <a:spcPts val="1000"/>
              </a:spcAft>
              <a:buSzPct val="100000"/>
              <a:buChar char="•"/>
            </a:pPr>
            <a:r>
              <a:rPr lang="en-US" sz="1600" dirty="0">
                <a:solidFill>
                  <a:schemeClr val="tx1"/>
                </a:solidFill>
              </a:rPr>
              <a:t>Never “clean”, never “safe”, never a title score</a:t>
            </a:r>
            <a:endParaRPr lang="en-US" sz="1600" dirty="0"/>
          </a:p>
          <a:p>
            <a:pPr marL="177800" indent="-177800">
              <a:spcAft>
                <a:spcPts val="1000"/>
              </a:spcAft>
              <a:buSzPct val="100000"/>
              <a:buChar char="•"/>
            </a:pPr>
            <a:r>
              <a:rPr lang="en-US" sz="1600" dirty="0">
                <a:solidFill>
                  <a:schemeClr val="tx1"/>
                </a:solidFill>
              </a:rPr>
              <a:t>Legal wording comes from a fixed library, not AI text</a:t>
            </a:r>
            <a:endParaRPr lang="en-US" sz="1600" dirty="0"/>
          </a:p>
          <a:p>
            <a:pPr marL="177800" indent="-177800">
              <a:spcAft>
                <a:spcPts val="1000"/>
              </a:spcAft>
              <a:buSzPct val="100000"/>
              <a:buChar char="•"/>
            </a:pPr>
            <a:r>
              <a:rPr lang="en-US" sz="1600" dirty="0">
                <a:solidFill>
                  <a:schemeClr val="tx1"/>
                </a:solidFill>
              </a:rPr>
              <a:t>Every result lists what we did not check</a:t>
            </a:r>
            <a:endParaRPr lang="en-US" sz="1600" dirty="0"/>
          </a:p>
        </p:txBody>
      </p:sp>
      <p:sp>
        <p:nvSpPr>
          <p:cNvPr id="8" name="Text 5"/>
          <p:cNvSpPr txBox="1"/>
          <p:nvPr/>
        </p:nvSpPr>
        <p:spPr>
          <a:xfrm>
            <a:off x="822960" y="5166360"/>
            <a:ext cx="4572000" cy="731520"/>
          </a:xfrm>
          <a:prstGeom prst="rect">
            <a:avLst/>
          </a:prstGeom>
          <a:noFill/>
          <a:ln/>
        </p:spPr>
        <p:txBody>
          <a:bodyPr wrap="square" lIns="0" tIns="0" rIns="0" bIns="0" rtlCol="0" anchor="t"/>
          <a:lstStyle/>
          <a:p>
            <a:pPr indent="0" marL="0">
              <a:buNone/>
            </a:pPr>
            <a:r>
              <a:rPr lang="en-US" sz="1400" dirty="0">
                <a:solidFill>
                  <a:srgbClr val="5B7276"/>
                </a:solidFill>
              </a:rPr>
              <a:t>Names are stored in the log only as salted commitments.</a:t>
            </a:r>
            <a:endParaRPr lang="en-US" sz="1400" dirty="0"/>
          </a:p>
        </p:txBody>
      </p:sp>
      <p:sp>
        <p:nvSpPr>
          <p:cNvPr id="9" name="Shape 6"/>
          <p:cNvSpPr/>
          <p:nvPr/>
        </p:nvSpPr>
        <p:spPr>
          <a:xfrm>
            <a:off x="5943600" y="1508760"/>
            <a:ext cx="5699455"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10774375" y="1645920"/>
            <a:ext cx="566928" cy="566928"/>
          </a:xfrm>
          <a:prstGeom prst="ellipse">
            <a:avLst/>
          </a:prstGeom>
          <a:solidFill>
            <a:schemeClr val="accent1"/>
          </a:solidFill>
          <a:ln w="12700">
            <a:solidFill>
              <a:schemeClr val="accent1"/>
            </a:solidFill>
            <a:prstDash val="solid"/>
          </a:ln>
        </p:spPr>
      </p:sp>
      <p:pic>
        <p:nvPicPr>
          <p:cNvPr id="11" name="Image 1" descr="Link">    </p:cNvPr>
          <p:cNvPicPr>
            <a:picLocks noChangeAspect="1"/>
          </p:cNvPicPr>
          <p:nvPr/>
        </p:nvPicPr>
        <p:blipFill>
          <a:blip r:embed="rId2"/>
          <a:stretch>
            <a:fillRect/>
          </a:stretch>
        </p:blipFill>
        <p:spPr>
          <a:xfrm>
            <a:off x="10916107" y="1787652"/>
            <a:ext cx="283464" cy="283464"/>
          </a:xfrm>
          <a:prstGeom prst="rect">
            <a:avLst/>
          </a:prstGeom>
        </p:spPr>
      </p:pic>
      <p:sp>
        <p:nvSpPr>
          <p:cNvPr id="12" name="Text 8"/>
          <p:cNvSpPr txBox="1"/>
          <p:nvPr/>
        </p:nvSpPr>
        <p:spPr>
          <a:xfrm>
            <a:off x="6217920" y="1645920"/>
            <a:ext cx="5150815" cy="457200"/>
          </a:xfrm>
          <a:prstGeom prst="rect">
            <a:avLst/>
          </a:prstGeom>
          <a:noFill/>
          <a:ln/>
        </p:spPr>
        <p:txBody>
          <a:bodyPr wrap="square" lIns="0" tIns="0" rIns="0" bIns="0" rtlCol="0" anchor="t"/>
          <a:lstStyle/>
          <a:p>
            <a:pPr indent="0" marL="0">
              <a:buNone/>
            </a:pPr>
            <a:r>
              <a:rPr lang="en-US" sz="2200" b="1" dirty="0">
                <a:solidFill>
                  <a:schemeClr val="tx2"/>
                </a:solidFill>
              </a:rPr>
              <a:t>Tamper-evident decision record</a:t>
            </a:r>
            <a:endParaRPr lang="en-US" sz="2200" dirty="0"/>
          </a:p>
        </p:txBody>
      </p:sp>
      <p:sp>
        <p:nvSpPr>
          <p:cNvPr id="13" name="Shape 9"/>
          <p:cNvSpPr/>
          <p:nvPr/>
        </p:nvSpPr>
        <p:spPr>
          <a:xfrm>
            <a:off x="6217920" y="2331720"/>
            <a:ext cx="1508760" cy="1371600"/>
          </a:xfrm>
          <a:prstGeom prst="roundRect">
            <a:avLst>
              <a:gd name="adj" fmla="val 6667"/>
            </a:avLst>
          </a:prstGeom>
          <a:solidFill>
            <a:srgbClr val="ECFDF5"/>
          </a:solidFill>
          <a:ln w="25400">
            <a:solidFill>
              <a:schemeClr val="accent6"/>
            </a:solidFill>
            <a:prstDash val="solid"/>
          </a:ln>
        </p:spPr>
      </p:sp>
      <p:sp>
        <p:nvSpPr>
          <p:cNvPr id="14" name="Text 10"/>
          <p:cNvSpPr txBox="1"/>
          <p:nvPr/>
        </p:nvSpPr>
        <p:spPr>
          <a:xfrm>
            <a:off x="6309360" y="2423160"/>
            <a:ext cx="1325880" cy="365760"/>
          </a:xfrm>
          <a:prstGeom prst="rect">
            <a:avLst/>
          </a:prstGeom>
          <a:noFill/>
          <a:ln/>
        </p:spPr>
        <p:txBody>
          <a:bodyPr wrap="square" lIns="0" tIns="0" rIns="0" bIns="0" rtlCol="0" anchor="t"/>
          <a:lstStyle/>
          <a:p>
            <a:pPr indent="0" marL="0">
              <a:buNone/>
            </a:pPr>
            <a:r>
              <a:rPr lang="en-US" sz="1600" b="1" dirty="0">
                <a:solidFill>
                  <a:srgbClr val="065F46"/>
                </a:solidFill>
              </a:rPr>
              <a:t>Block 1</a:t>
            </a:r>
            <a:endParaRPr lang="en-US" sz="1600" dirty="0"/>
          </a:p>
        </p:txBody>
      </p:sp>
      <p:sp>
        <p:nvSpPr>
          <p:cNvPr id="15" name="Text 11"/>
          <p:cNvSpPr txBox="1"/>
          <p:nvPr/>
        </p:nvSpPr>
        <p:spPr>
          <a:xfrm>
            <a:off x="6309360" y="2834640"/>
            <a:ext cx="1325880" cy="777240"/>
          </a:xfrm>
          <a:prstGeom prst="rect">
            <a:avLst/>
          </a:prstGeom>
          <a:noFill/>
          <a:ln/>
        </p:spPr>
        <p:txBody>
          <a:bodyPr wrap="square" lIns="0" tIns="0" rIns="0" bIns="0" rtlCol="0" anchor="t"/>
          <a:lstStyle/>
          <a:p>
            <a:pPr indent="0" marL="0">
              <a:buNone/>
            </a:pPr>
            <a:r>
              <a:rPr lang="en-US" sz="1200" dirty="0">
                <a:solidFill>
                  <a:srgbClr val="5B7276"/>
                </a:solidFill>
              </a:rPr>
              <a:t>prev hash → this hash</a:t>
            </a:r>
            <a:endParaRPr lang="en-US" sz="1200" dirty="0"/>
          </a:p>
        </p:txBody>
      </p:sp>
      <p:sp>
        <p:nvSpPr>
          <p:cNvPr id="16" name="Shape 12"/>
          <p:cNvSpPr/>
          <p:nvPr/>
        </p:nvSpPr>
        <p:spPr>
          <a:xfrm>
            <a:off x="7754112" y="2880360"/>
            <a:ext cx="257404" cy="274320"/>
          </a:xfrm>
          <a:prstGeom prst="rightArrow">
            <a:avLst/>
          </a:prstGeom>
          <a:solidFill>
            <a:schemeClr val="accent2"/>
          </a:solidFill>
          <a:ln w="12700">
            <a:solidFill>
              <a:schemeClr val="accent2"/>
            </a:solidFill>
            <a:prstDash val="solid"/>
          </a:ln>
        </p:spPr>
      </p:sp>
      <p:sp>
        <p:nvSpPr>
          <p:cNvPr id="17" name="Shape 13"/>
          <p:cNvSpPr/>
          <p:nvPr/>
        </p:nvSpPr>
        <p:spPr>
          <a:xfrm>
            <a:off x="8038948" y="2331720"/>
            <a:ext cx="1508760" cy="1371600"/>
          </a:xfrm>
          <a:prstGeom prst="roundRect">
            <a:avLst>
              <a:gd name="adj" fmla="val 6667"/>
            </a:avLst>
          </a:prstGeom>
          <a:solidFill>
            <a:srgbClr val="ECFDF5"/>
          </a:solidFill>
          <a:ln w="25400">
            <a:solidFill>
              <a:schemeClr val="accent6"/>
            </a:solidFill>
            <a:prstDash val="solid"/>
          </a:ln>
        </p:spPr>
      </p:sp>
      <p:sp>
        <p:nvSpPr>
          <p:cNvPr id="18" name="Text 14"/>
          <p:cNvSpPr txBox="1"/>
          <p:nvPr/>
        </p:nvSpPr>
        <p:spPr>
          <a:xfrm>
            <a:off x="8130388" y="2423160"/>
            <a:ext cx="1325880" cy="365760"/>
          </a:xfrm>
          <a:prstGeom prst="rect">
            <a:avLst/>
          </a:prstGeom>
          <a:noFill/>
          <a:ln/>
        </p:spPr>
        <p:txBody>
          <a:bodyPr wrap="square" lIns="0" tIns="0" rIns="0" bIns="0" rtlCol="0" anchor="t"/>
          <a:lstStyle/>
          <a:p>
            <a:pPr indent="0" marL="0">
              <a:buNone/>
            </a:pPr>
            <a:r>
              <a:rPr lang="en-US" sz="1600" b="1" dirty="0">
                <a:solidFill>
                  <a:srgbClr val="065F46"/>
                </a:solidFill>
              </a:rPr>
              <a:t>Block 2</a:t>
            </a:r>
            <a:endParaRPr lang="en-US" sz="1600" dirty="0"/>
          </a:p>
        </p:txBody>
      </p:sp>
      <p:sp>
        <p:nvSpPr>
          <p:cNvPr id="19" name="Text 15"/>
          <p:cNvSpPr txBox="1"/>
          <p:nvPr/>
        </p:nvSpPr>
        <p:spPr>
          <a:xfrm>
            <a:off x="8130388" y="2834640"/>
            <a:ext cx="1325880" cy="777240"/>
          </a:xfrm>
          <a:prstGeom prst="rect">
            <a:avLst/>
          </a:prstGeom>
          <a:noFill/>
          <a:ln/>
        </p:spPr>
        <p:txBody>
          <a:bodyPr wrap="square" lIns="0" tIns="0" rIns="0" bIns="0" rtlCol="0" anchor="t"/>
          <a:lstStyle/>
          <a:p>
            <a:pPr indent="0" marL="0">
              <a:buNone/>
            </a:pPr>
            <a:r>
              <a:rPr lang="en-US" sz="1200" dirty="0">
                <a:solidFill>
                  <a:srgbClr val="5B7276"/>
                </a:solidFill>
              </a:rPr>
              <a:t>prev hash → this hash</a:t>
            </a:r>
            <a:endParaRPr lang="en-US" sz="1200" dirty="0"/>
          </a:p>
        </p:txBody>
      </p:sp>
      <p:sp>
        <p:nvSpPr>
          <p:cNvPr id="20" name="Shape 16"/>
          <p:cNvSpPr/>
          <p:nvPr/>
        </p:nvSpPr>
        <p:spPr>
          <a:xfrm>
            <a:off x="9575140" y="2880360"/>
            <a:ext cx="257404" cy="274320"/>
          </a:xfrm>
          <a:prstGeom prst="rightArrow">
            <a:avLst/>
          </a:prstGeom>
          <a:solidFill>
            <a:schemeClr val="accent2"/>
          </a:solidFill>
          <a:ln w="12700">
            <a:solidFill>
              <a:schemeClr val="accent2"/>
            </a:solidFill>
            <a:prstDash val="solid"/>
          </a:ln>
        </p:spPr>
      </p:sp>
      <p:sp>
        <p:nvSpPr>
          <p:cNvPr id="21" name="Shape 17"/>
          <p:cNvSpPr/>
          <p:nvPr/>
        </p:nvSpPr>
        <p:spPr>
          <a:xfrm>
            <a:off x="9859975" y="2331720"/>
            <a:ext cx="1508760" cy="1371600"/>
          </a:xfrm>
          <a:prstGeom prst="roundRect">
            <a:avLst>
              <a:gd name="adj" fmla="val 6667"/>
            </a:avLst>
          </a:prstGeom>
          <a:solidFill>
            <a:srgbClr val="FFF1F2"/>
          </a:solidFill>
          <a:ln w="25400">
            <a:solidFill>
              <a:schemeClr val="accent3"/>
            </a:solidFill>
            <a:prstDash val="solid"/>
          </a:ln>
        </p:spPr>
      </p:sp>
      <p:sp>
        <p:nvSpPr>
          <p:cNvPr id="22" name="Text 18"/>
          <p:cNvSpPr txBox="1"/>
          <p:nvPr/>
        </p:nvSpPr>
        <p:spPr>
          <a:xfrm>
            <a:off x="9951415" y="2423160"/>
            <a:ext cx="1325880" cy="365760"/>
          </a:xfrm>
          <a:prstGeom prst="rect">
            <a:avLst/>
          </a:prstGeom>
          <a:noFill/>
          <a:ln/>
        </p:spPr>
        <p:txBody>
          <a:bodyPr wrap="square" lIns="0" tIns="0" rIns="0" bIns="0" rtlCol="0" anchor="t"/>
          <a:lstStyle/>
          <a:p>
            <a:pPr indent="0" marL="0">
              <a:buNone/>
            </a:pPr>
            <a:r>
              <a:rPr lang="en-US" sz="1600" b="1" dirty="0">
                <a:solidFill>
                  <a:srgbClr val="9F1239"/>
                </a:solidFill>
              </a:rPr>
              <a:t>Block 3</a:t>
            </a:r>
            <a:endParaRPr lang="en-US" sz="1600" dirty="0"/>
          </a:p>
        </p:txBody>
      </p:sp>
      <p:sp>
        <p:nvSpPr>
          <p:cNvPr id="23" name="Text 19"/>
          <p:cNvSpPr txBox="1"/>
          <p:nvPr/>
        </p:nvSpPr>
        <p:spPr>
          <a:xfrm>
            <a:off x="9951415" y="2834640"/>
            <a:ext cx="1325880" cy="777240"/>
          </a:xfrm>
          <a:prstGeom prst="rect">
            <a:avLst/>
          </a:prstGeom>
          <a:noFill/>
          <a:ln/>
        </p:spPr>
        <p:txBody>
          <a:bodyPr wrap="square" lIns="0" tIns="0" rIns="0" bIns="0" rtlCol="0" anchor="t"/>
          <a:lstStyle/>
          <a:p>
            <a:pPr indent="0" marL="0">
              <a:buNone/>
            </a:pPr>
            <a:r>
              <a:rPr lang="en-US" sz="1200" dirty="0">
                <a:solidFill>
                  <a:srgbClr val="5B7276"/>
                </a:solidFill>
              </a:rPr>
              <a:t>edited after the fact</a:t>
            </a:r>
            <a:endParaRPr lang="en-US" sz="1200" dirty="0"/>
          </a:p>
        </p:txBody>
      </p:sp>
      <p:sp>
        <p:nvSpPr>
          <p:cNvPr id="24" name="Text 20"/>
          <p:cNvSpPr txBox="1"/>
          <p:nvPr/>
        </p:nvSpPr>
        <p:spPr>
          <a:xfrm>
            <a:off x="6217920" y="3931920"/>
            <a:ext cx="5150815" cy="457200"/>
          </a:xfrm>
          <a:prstGeom prst="roundRect">
            <a:avLst>
              <a:gd name="adj" fmla="val 20000"/>
            </a:avLst>
          </a:prstGeom>
          <a:solidFill>
            <a:schemeClr val="accent3"/>
          </a:solidFill>
          <a:ln/>
        </p:spPr>
        <p:txBody>
          <a:bodyPr wrap="square" lIns="0" tIns="0" rIns="0" bIns="0" rtlCol="0" anchor="ctr"/>
          <a:lstStyle/>
          <a:p>
            <a:pPr algn="ctr" indent="0" marL="0">
              <a:buNone/>
            </a:pPr>
            <a:r>
              <a:rPr lang="en-US" sz="1600" b="1" dirty="0">
                <a:solidFill>
                  <a:schemeClr val="bg1"/>
                </a:solidFill>
              </a:rPr>
              <a:t>Verification fails at block 3</a:t>
            </a:r>
            <a:endParaRPr lang="en-US" sz="1600" dirty="0"/>
          </a:p>
        </p:txBody>
      </p:sp>
      <p:sp>
        <p:nvSpPr>
          <p:cNvPr id="25" name="Text 21"/>
          <p:cNvSpPr txBox="1"/>
          <p:nvPr/>
        </p:nvSpPr>
        <p:spPr>
          <a:xfrm>
            <a:off x="6217920" y="4526280"/>
            <a:ext cx="5150815" cy="1417320"/>
          </a:xfrm>
          <a:prstGeom prst="rect">
            <a:avLst/>
          </a:prstGeom>
          <a:noFill/>
          <a:ln/>
        </p:spPr>
        <p:txBody>
          <a:bodyPr wrap="square" lIns="0" tIns="0" rIns="0" bIns="0" rtlCol="0" anchor="t"/>
          <a:lstStyle/>
          <a:p>
            <a:pPr indent="0" marL="0">
              <a:buNone/>
            </a:pPr>
            <a:r>
              <a:rPr lang="en-US" sz="1400" dirty="0">
                <a:solidFill>
                  <a:schemeClr val="tx1"/>
                </a:solidFill>
              </a:rPr>
              <a:t>Each entry binds: SHA-256 of the original files, extraction hash, ruleset and model version, salted name commitments, and an Ed25519 signature. A hash-chained, signed log: not a blockchain, and it proves integrity, not fault.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Models and tools</a:t>
            </a:r>
            <a:endParaRPr lang="en-US" sz="3600" dirty="0"/>
          </a:p>
        </p:txBody>
      </p:sp>
      <p:sp>
        <p:nvSpPr>
          <p:cNvPr id="3" name="Shape 1"/>
          <p:cNvSpPr/>
          <p:nvPr/>
        </p:nvSpPr>
        <p:spPr>
          <a:xfrm>
            <a:off x="548640" y="155448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822960" y="1737360"/>
            <a:ext cx="512064" cy="512064"/>
          </a:xfrm>
          <a:prstGeom prst="ellipse">
            <a:avLst/>
          </a:prstGeom>
          <a:solidFill>
            <a:schemeClr val="accent1"/>
          </a:solidFill>
          <a:ln w="12700">
            <a:solidFill>
              <a:schemeClr val="accent1"/>
            </a:solidFill>
            <a:prstDash val="solid"/>
          </a:ln>
        </p:spPr>
      </p:sp>
      <p:pic>
        <p:nvPicPr>
          <p:cNvPr id="5" name="Image 0" descr="Eye">    </p:cNvPr>
          <p:cNvPicPr>
            <a:picLocks noChangeAspect="1"/>
          </p:cNvPicPr>
          <p:nvPr/>
        </p:nvPicPr>
        <p:blipFill>
          <a:blip r:embed="rId1"/>
          <a:stretch>
            <a:fillRect/>
          </a:stretch>
        </p:blipFill>
        <p:spPr>
          <a:xfrm>
            <a:off x="950976" y="1865376"/>
            <a:ext cx="256032" cy="256032"/>
          </a:xfrm>
          <a:prstGeom prst="rect">
            <a:avLst/>
          </a:prstGeom>
        </p:spPr>
      </p:pic>
      <p:sp>
        <p:nvSpPr>
          <p:cNvPr id="6" name="Text 3"/>
          <p:cNvSpPr txBox="1"/>
          <p:nvPr/>
        </p:nvSpPr>
        <p:spPr>
          <a:xfrm>
            <a:off x="1463040" y="175564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Vision LLM</a:t>
            </a:r>
            <a:endParaRPr lang="en-US" sz="1800" dirty="0"/>
          </a:p>
        </p:txBody>
      </p:sp>
      <p:sp>
        <p:nvSpPr>
          <p:cNvPr id="7" name="Text 4"/>
          <p:cNvSpPr txBox="1"/>
          <p:nvPr/>
        </p:nvSpPr>
        <p:spPr>
          <a:xfrm>
            <a:off x="822960" y="2331720"/>
            <a:ext cx="2971800" cy="1325880"/>
          </a:xfrm>
          <a:prstGeom prst="rect">
            <a:avLst/>
          </a:prstGeom>
          <a:noFill/>
          <a:ln/>
        </p:spPr>
        <p:txBody>
          <a:bodyPr wrap="square" lIns="0" tIns="0" rIns="0" bIns="0" rtlCol="0" anchor="t"/>
          <a:lstStyle/>
          <a:p>
            <a:pPr indent="0" marL="0">
              <a:buNone/>
            </a:pPr>
            <a:r>
              <a:rPr lang="en-US" sz="1400" dirty="0">
                <a:solidFill>
                  <a:schemeClr val="tx1"/>
                </a:solidFill>
              </a:rPr>
              <a:t>Gemini Flash reads the page images. One provider interface: Claude also supported, a self-hosted model can be swapped in.</a:t>
            </a:r>
            <a:endParaRPr lang="en-US" sz="1400" dirty="0"/>
          </a:p>
        </p:txBody>
      </p:sp>
      <p:sp>
        <p:nvSpPr>
          <p:cNvPr id="8" name="Shape 5"/>
          <p:cNvSpPr/>
          <p:nvPr/>
        </p:nvSpPr>
        <p:spPr>
          <a:xfrm>
            <a:off x="4335628" y="155448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609948" y="1737360"/>
            <a:ext cx="512064" cy="512064"/>
          </a:xfrm>
          <a:prstGeom prst="ellipse">
            <a:avLst/>
          </a:prstGeom>
          <a:solidFill>
            <a:schemeClr val="accent1"/>
          </a:solidFill>
          <a:ln w="12700">
            <a:solidFill>
              <a:schemeClr val="accent1"/>
            </a:solidFill>
            <a:prstDash val="solid"/>
          </a:ln>
        </p:spPr>
      </p:sp>
      <p:pic>
        <p:nvPicPr>
          <p:cNvPr id="10" name="Image 1" descr="MagnifyingGlass">    </p:cNvPr>
          <p:cNvPicPr>
            <a:picLocks noChangeAspect="1"/>
          </p:cNvPicPr>
          <p:nvPr/>
        </p:nvPicPr>
        <p:blipFill>
          <a:blip r:embed="rId2"/>
          <a:stretch>
            <a:fillRect/>
          </a:stretch>
        </p:blipFill>
        <p:spPr>
          <a:xfrm>
            <a:off x="4737964" y="1865376"/>
            <a:ext cx="256032" cy="256032"/>
          </a:xfrm>
          <a:prstGeom prst="rect">
            <a:avLst/>
          </a:prstGeom>
        </p:spPr>
      </p:pic>
      <p:sp>
        <p:nvSpPr>
          <p:cNvPr id="11" name="Text 7"/>
          <p:cNvSpPr txBox="1"/>
          <p:nvPr/>
        </p:nvSpPr>
        <p:spPr>
          <a:xfrm>
            <a:off x="5250028" y="175564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Local reader</a:t>
            </a:r>
            <a:endParaRPr lang="en-US" sz="1800" dirty="0"/>
          </a:p>
        </p:txBody>
      </p:sp>
      <p:sp>
        <p:nvSpPr>
          <p:cNvPr id="12" name="Text 8"/>
          <p:cNvSpPr txBox="1"/>
          <p:nvPr/>
        </p:nvSpPr>
        <p:spPr>
          <a:xfrm>
            <a:off x="4609948" y="2331720"/>
            <a:ext cx="2971800" cy="1325880"/>
          </a:xfrm>
          <a:prstGeom prst="rect">
            <a:avLst/>
          </a:prstGeom>
          <a:noFill/>
          <a:ln/>
        </p:spPr>
        <p:txBody>
          <a:bodyPr wrap="square" lIns="0" tIns="0" rIns="0" bIns="0" rtlCol="0" anchor="t"/>
          <a:lstStyle/>
          <a:p>
            <a:pPr indent="0" marL="0">
              <a:buNone/>
            </a:pPr>
            <a:r>
              <a:rPr lang="en-US" sz="1400" dirty="0">
                <a:solidFill>
                  <a:schemeClr val="tx1"/>
                </a:solidFill>
              </a:rPr>
              <a:t>Tesseract 5 (English, Hindi, Marathi, Assamese packs) and the PDF text layer. Cross-checks the model and finds ID numbers to mask.</a:t>
            </a:r>
            <a:endParaRPr lang="en-US" sz="1400" dirty="0"/>
          </a:p>
        </p:txBody>
      </p:sp>
      <p:sp>
        <p:nvSpPr>
          <p:cNvPr id="13" name="Shape 9"/>
          <p:cNvSpPr/>
          <p:nvPr/>
        </p:nvSpPr>
        <p:spPr>
          <a:xfrm>
            <a:off x="8122615" y="155448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8396935" y="1737360"/>
            <a:ext cx="512064" cy="512064"/>
          </a:xfrm>
          <a:prstGeom prst="ellipse">
            <a:avLst/>
          </a:prstGeom>
          <a:solidFill>
            <a:schemeClr val="accent2"/>
          </a:solidFill>
          <a:ln w="12700">
            <a:solidFill>
              <a:schemeClr val="accent2"/>
            </a:solidFill>
            <a:prstDash val="solid"/>
          </a:ln>
        </p:spPr>
      </p:sp>
      <p:pic>
        <p:nvPicPr>
          <p:cNvPr id="15" name="Image 2" descr="Robot">    </p:cNvPr>
          <p:cNvPicPr>
            <a:picLocks noChangeAspect="1"/>
          </p:cNvPicPr>
          <p:nvPr/>
        </p:nvPicPr>
        <p:blipFill>
          <a:blip r:embed="rId3"/>
          <a:stretch>
            <a:fillRect/>
          </a:stretch>
        </p:blipFill>
        <p:spPr>
          <a:xfrm>
            <a:off x="8524951" y="1865376"/>
            <a:ext cx="256032" cy="256032"/>
          </a:xfrm>
          <a:prstGeom prst="rect">
            <a:avLst/>
          </a:prstGeom>
        </p:spPr>
      </p:pic>
      <p:sp>
        <p:nvSpPr>
          <p:cNvPr id="16" name="Text 11"/>
          <p:cNvSpPr txBox="1"/>
          <p:nvPr/>
        </p:nvSpPr>
        <p:spPr>
          <a:xfrm>
            <a:off x="9037015" y="175564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Cline SDK agent</a:t>
            </a:r>
            <a:endParaRPr lang="en-US" sz="1800" dirty="0"/>
          </a:p>
        </p:txBody>
      </p:sp>
      <p:sp>
        <p:nvSpPr>
          <p:cNvPr id="17" name="Text 12"/>
          <p:cNvSpPr txBox="1"/>
          <p:nvPr/>
        </p:nvSpPr>
        <p:spPr>
          <a:xfrm>
            <a:off x="8396935" y="2331720"/>
            <a:ext cx="2971800" cy="1325880"/>
          </a:xfrm>
          <a:prstGeom prst="rect">
            <a:avLst/>
          </a:prstGeom>
          <a:noFill/>
          <a:ln/>
        </p:spPr>
        <p:txBody>
          <a:bodyPr wrap="square" lIns="0" tIns="0" rIns="0" bIns="0" rtlCol="0" anchor="t"/>
          <a:lstStyle/>
          <a:p>
            <a:pPr indent="0" marL="0">
              <a:buNone/>
            </a:pPr>
            <a:r>
              <a:rPr lang="en-US" sz="1400" dirty="0">
                <a:solidFill>
                  <a:schemeClr val="tx1"/>
                </a:solidFill>
              </a:rPr>
              <a:t>@cline/sdk on Node 22 reviews fields the extractor could not read. It can only propose; Python re-checks.</a:t>
            </a:r>
            <a:endParaRPr lang="en-US" sz="1400" dirty="0"/>
          </a:p>
        </p:txBody>
      </p:sp>
      <p:sp>
        <p:nvSpPr>
          <p:cNvPr id="18" name="Shape 13"/>
          <p:cNvSpPr/>
          <p:nvPr/>
        </p:nvSpPr>
        <p:spPr>
          <a:xfrm>
            <a:off x="548640" y="402336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822960" y="4206240"/>
            <a:ext cx="512064" cy="512064"/>
          </a:xfrm>
          <a:prstGeom prst="ellipse">
            <a:avLst/>
          </a:prstGeom>
          <a:solidFill>
            <a:schemeClr val="accent1"/>
          </a:solidFill>
          <a:ln w="12700">
            <a:solidFill>
              <a:schemeClr val="accent1"/>
            </a:solidFill>
            <a:prstDash val="solid"/>
          </a:ln>
        </p:spPr>
      </p:sp>
      <p:pic>
        <p:nvPicPr>
          <p:cNvPr id="20" name="Image 3" descr="Python">    </p:cNvPr>
          <p:cNvPicPr>
            <a:picLocks noChangeAspect="1"/>
          </p:cNvPicPr>
          <p:nvPr/>
        </p:nvPicPr>
        <p:blipFill>
          <a:blip r:embed="rId4"/>
          <a:stretch>
            <a:fillRect/>
          </a:stretch>
        </p:blipFill>
        <p:spPr>
          <a:xfrm>
            <a:off x="950976" y="4334256"/>
            <a:ext cx="256032" cy="256032"/>
          </a:xfrm>
          <a:prstGeom prst="rect">
            <a:avLst/>
          </a:prstGeom>
        </p:spPr>
      </p:pic>
      <p:sp>
        <p:nvSpPr>
          <p:cNvPr id="21" name="Text 15"/>
          <p:cNvSpPr txBox="1"/>
          <p:nvPr/>
        </p:nvSpPr>
        <p:spPr>
          <a:xfrm>
            <a:off x="1463040" y="422452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Python core</a:t>
            </a:r>
            <a:endParaRPr lang="en-US" sz="1800" dirty="0"/>
          </a:p>
        </p:txBody>
      </p:sp>
      <p:sp>
        <p:nvSpPr>
          <p:cNvPr id="22" name="Text 16"/>
          <p:cNvSpPr txBox="1"/>
          <p:nvPr/>
        </p:nvSpPr>
        <p:spPr>
          <a:xfrm>
            <a:off x="822960" y="4800600"/>
            <a:ext cx="2971800" cy="1325880"/>
          </a:xfrm>
          <a:prstGeom prst="rect">
            <a:avLst/>
          </a:prstGeom>
          <a:noFill/>
          <a:ln/>
        </p:spPr>
        <p:txBody>
          <a:bodyPr wrap="square" lIns="0" tIns="0" rIns="0" bIns="0" rtlCol="0" anchor="t"/>
          <a:lstStyle/>
          <a:p>
            <a:pPr indent="0" marL="0">
              <a:buNone/>
            </a:pPr>
            <a:r>
              <a:rPr lang="en-US" sz="1400" dirty="0">
                <a:solidFill>
                  <a:schemeClr val="tx1"/>
                </a:solidFill>
              </a:rPr>
              <a:t>PyMuPDF, OpenCV, pydantic and rapidfuzz for ingest, preprocessing, validation and matching.</a:t>
            </a:r>
            <a:endParaRPr lang="en-US" sz="1400" dirty="0"/>
          </a:p>
        </p:txBody>
      </p:sp>
      <p:sp>
        <p:nvSpPr>
          <p:cNvPr id="23" name="Shape 17"/>
          <p:cNvSpPr/>
          <p:nvPr/>
        </p:nvSpPr>
        <p:spPr>
          <a:xfrm>
            <a:off x="4335628" y="402336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4" name="Shape 18"/>
          <p:cNvSpPr/>
          <p:nvPr/>
        </p:nvSpPr>
        <p:spPr>
          <a:xfrm>
            <a:off x="4609948" y="4206240"/>
            <a:ext cx="512064" cy="512064"/>
          </a:xfrm>
          <a:prstGeom prst="ellipse">
            <a:avLst/>
          </a:prstGeom>
          <a:solidFill>
            <a:schemeClr val="accent1"/>
          </a:solidFill>
          <a:ln w="12700">
            <a:solidFill>
              <a:schemeClr val="accent1"/>
            </a:solidFill>
            <a:prstDash val="solid"/>
          </a:ln>
        </p:spPr>
      </p:sp>
      <p:pic>
        <p:nvPicPr>
          <p:cNvPr id="25" name="Image 4" descr="Database">    </p:cNvPr>
          <p:cNvPicPr>
            <a:picLocks noChangeAspect="1"/>
          </p:cNvPicPr>
          <p:nvPr/>
        </p:nvPicPr>
        <p:blipFill>
          <a:blip r:embed="rId5"/>
          <a:stretch>
            <a:fillRect/>
          </a:stretch>
        </p:blipFill>
        <p:spPr>
          <a:xfrm>
            <a:off x="4737964" y="4334256"/>
            <a:ext cx="256032" cy="256032"/>
          </a:xfrm>
          <a:prstGeom prst="rect">
            <a:avLst/>
          </a:prstGeom>
        </p:spPr>
      </p:pic>
      <p:sp>
        <p:nvSpPr>
          <p:cNvPr id="26" name="Text 19"/>
          <p:cNvSpPr txBox="1"/>
          <p:nvPr/>
        </p:nvSpPr>
        <p:spPr>
          <a:xfrm>
            <a:off x="5250028" y="422452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Rules + ledger</a:t>
            </a:r>
            <a:endParaRPr lang="en-US" sz="1800" dirty="0"/>
          </a:p>
        </p:txBody>
      </p:sp>
      <p:sp>
        <p:nvSpPr>
          <p:cNvPr id="27" name="Text 20"/>
          <p:cNvSpPr txBox="1"/>
          <p:nvPr/>
        </p:nvSpPr>
        <p:spPr>
          <a:xfrm>
            <a:off x="4609948" y="4800600"/>
            <a:ext cx="2971800" cy="1325880"/>
          </a:xfrm>
          <a:prstGeom prst="rect">
            <a:avLst/>
          </a:prstGeom>
          <a:noFill/>
          <a:ln/>
        </p:spPr>
        <p:txBody>
          <a:bodyPr wrap="square" lIns="0" tIns="0" rIns="0" bIns="0" rtlCol="0" anchor="t"/>
          <a:lstStyle/>
          <a:p>
            <a:pPr indent="0" marL="0">
              <a:buNone/>
            </a:pPr>
            <a:r>
              <a:rPr lang="en-US" sz="1400" dirty="0">
                <a:solidFill>
                  <a:schemeClr val="tx1"/>
                </a:solidFill>
              </a:rPr>
              <a:t>Deterministic Python rules, SQLite, SHA-256 hash chain, Ed25519 signatures, salted HMAC commitments.</a:t>
            </a:r>
            <a:endParaRPr lang="en-US" sz="1400" dirty="0"/>
          </a:p>
        </p:txBody>
      </p:sp>
      <p:sp>
        <p:nvSpPr>
          <p:cNvPr id="28" name="Shape 21"/>
          <p:cNvSpPr/>
          <p:nvPr/>
        </p:nvSpPr>
        <p:spPr>
          <a:xfrm>
            <a:off x="8122615" y="4023360"/>
            <a:ext cx="3520440" cy="2194560"/>
          </a:xfrm>
          <a:prstGeom prst="roundRect">
            <a:avLst>
              <a:gd name="adj" fmla="val 5000"/>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9" name="Shape 22"/>
          <p:cNvSpPr/>
          <p:nvPr/>
        </p:nvSpPr>
        <p:spPr>
          <a:xfrm>
            <a:off x="8396935" y="4206240"/>
            <a:ext cx="512064" cy="512064"/>
          </a:xfrm>
          <a:prstGeom prst="ellipse">
            <a:avLst/>
          </a:prstGeom>
          <a:solidFill>
            <a:schemeClr val="accent1"/>
          </a:solidFill>
          <a:ln w="12700">
            <a:solidFill>
              <a:schemeClr val="accent1"/>
            </a:solidFill>
            <a:prstDash val="solid"/>
          </a:ln>
        </p:spPr>
      </p:sp>
      <p:pic>
        <p:nvPicPr>
          <p:cNvPr id="30" name="Image 5" descr="Desktop">    </p:cNvPr>
          <p:cNvPicPr>
            <a:picLocks noChangeAspect="1"/>
          </p:cNvPicPr>
          <p:nvPr/>
        </p:nvPicPr>
        <p:blipFill>
          <a:blip r:embed="rId6"/>
          <a:stretch>
            <a:fillRect/>
          </a:stretch>
        </p:blipFill>
        <p:spPr>
          <a:xfrm>
            <a:off x="8524951" y="4334256"/>
            <a:ext cx="256032" cy="256032"/>
          </a:xfrm>
          <a:prstGeom prst="rect">
            <a:avLst/>
          </a:prstGeom>
        </p:spPr>
      </p:pic>
      <p:sp>
        <p:nvSpPr>
          <p:cNvPr id="31" name="Text 23"/>
          <p:cNvSpPr txBox="1"/>
          <p:nvPr/>
        </p:nvSpPr>
        <p:spPr>
          <a:xfrm>
            <a:off x="9037015" y="4224528"/>
            <a:ext cx="2377440" cy="457200"/>
          </a:xfrm>
          <a:prstGeom prst="rect">
            <a:avLst/>
          </a:prstGeom>
          <a:noFill/>
          <a:ln/>
        </p:spPr>
        <p:txBody>
          <a:bodyPr wrap="square" lIns="0" tIns="0" rIns="0" bIns="0" rtlCol="0" anchor="ctr"/>
          <a:lstStyle/>
          <a:p>
            <a:pPr indent="0" marL="0">
              <a:buNone/>
            </a:pPr>
            <a:r>
              <a:rPr lang="en-US" sz="1800" b="1" dirty="0">
                <a:solidFill>
                  <a:schemeClr val="tx2"/>
                </a:solidFill>
              </a:rPr>
              <a:t>Streamlit app</a:t>
            </a:r>
            <a:endParaRPr lang="en-US" sz="1800" dirty="0"/>
          </a:p>
        </p:txBody>
      </p:sp>
      <p:sp>
        <p:nvSpPr>
          <p:cNvPr id="32" name="Text 24"/>
          <p:cNvSpPr txBox="1"/>
          <p:nvPr/>
        </p:nvSpPr>
        <p:spPr>
          <a:xfrm>
            <a:off x="8396935" y="4800600"/>
            <a:ext cx="2971800" cy="1325880"/>
          </a:xfrm>
          <a:prstGeom prst="rect">
            <a:avLst/>
          </a:prstGeom>
          <a:noFill/>
          <a:ln/>
        </p:spPr>
        <p:txBody>
          <a:bodyPr wrap="square" lIns="0" tIns="0" rIns="0" bIns="0" rtlCol="0" anchor="t"/>
          <a:lstStyle/>
          <a:p>
            <a:pPr indent="0" marL="0">
              <a:buNone/>
            </a:pPr>
            <a:r>
              <a:rPr lang="en-US" sz="1400" dirty="0">
                <a:solidFill>
                  <a:schemeClr val="tx1"/>
                </a:solidFill>
              </a:rPr>
              <a:t>Website-style interface with SVG illustrations. Runs offline from cached extractions for the demo.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How Cline was used</a:t>
            </a:r>
            <a:endParaRPr lang="en-US" sz="3600" dirty="0"/>
          </a:p>
        </p:txBody>
      </p:sp>
      <p:sp>
        <p:nvSpPr>
          <p:cNvPr id="3" name="Shape 1"/>
          <p:cNvSpPr/>
          <p:nvPr/>
        </p:nvSpPr>
        <p:spPr>
          <a:xfrm>
            <a:off x="548640" y="1508760"/>
            <a:ext cx="5364328"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5044288" y="1600200"/>
            <a:ext cx="566928" cy="566928"/>
          </a:xfrm>
          <a:prstGeom prst="ellipse">
            <a:avLst/>
          </a:prstGeom>
          <a:solidFill>
            <a:schemeClr val="accent1"/>
          </a:solidFill>
          <a:ln w="12700">
            <a:solidFill>
              <a:schemeClr val="accent1"/>
            </a:solidFill>
            <a:prstDash val="solid"/>
          </a:ln>
        </p:spPr>
      </p:sp>
      <p:pic>
        <p:nvPicPr>
          <p:cNvPr id="5" name="Image 0" descr="Code">    </p:cNvPr>
          <p:cNvPicPr>
            <a:picLocks noChangeAspect="1"/>
          </p:cNvPicPr>
          <p:nvPr/>
        </p:nvPicPr>
        <p:blipFill>
          <a:blip r:embed="rId1"/>
          <a:stretch>
            <a:fillRect/>
          </a:stretch>
        </p:blipFill>
        <p:spPr>
          <a:xfrm>
            <a:off x="5186020" y="1741932"/>
            <a:ext cx="283464" cy="283464"/>
          </a:xfrm>
          <a:prstGeom prst="rect">
            <a:avLst/>
          </a:prstGeom>
        </p:spPr>
      </p:pic>
      <p:sp>
        <p:nvSpPr>
          <p:cNvPr id="6" name="Text 3"/>
          <p:cNvSpPr txBox="1"/>
          <p:nvPr/>
        </p:nvSpPr>
        <p:spPr>
          <a:xfrm>
            <a:off x="822960" y="1645920"/>
            <a:ext cx="4815688" cy="457200"/>
          </a:xfrm>
          <a:prstGeom prst="rect">
            <a:avLst/>
          </a:prstGeom>
          <a:noFill/>
          <a:ln/>
        </p:spPr>
        <p:txBody>
          <a:bodyPr wrap="square" lIns="0" tIns="0" rIns="0" bIns="0" rtlCol="0" anchor="t"/>
          <a:lstStyle/>
          <a:p>
            <a:pPr indent="0" marL="0">
              <a:buNone/>
            </a:pPr>
            <a:r>
              <a:rPr lang="en-US" sz="2200" b="1" dirty="0">
                <a:solidFill>
                  <a:schemeClr val="tx2"/>
                </a:solidFill>
              </a:rPr>
              <a:t>In the build</a:t>
            </a:r>
            <a:endParaRPr lang="en-US" sz="2200" dirty="0"/>
          </a:p>
        </p:txBody>
      </p:sp>
      <p:sp>
        <p:nvSpPr>
          <p:cNvPr id="7" name="Text 4"/>
          <p:cNvSpPr txBox="1"/>
          <p:nvPr/>
        </p:nvSpPr>
        <p:spPr>
          <a:xfrm>
            <a:off x="822960" y="2194560"/>
            <a:ext cx="4815688" cy="2377440"/>
          </a:xfrm>
          <a:prstGeom prst="rect">
            <a:avLst/>
          </a:prstGeom>
          <a:noFill/>
          <a:ln/>
        </p:spPr>
        <p:txBody>
          <a:bodyPr wrap="square" lIns="635" tIns="635" rIns="635" bIns="635" rtlCol="0" anchor="t"/>
          <a:lstStyle/>
          <a:p>
            <a:pPr marL="177800" indent="-177800">
              <a:spcAft>
                <a:spcPts val="800"/>
              </a:spcAft>
              <a:buSzPct val="100000"/>
              <a:buChar char="•"/>
            </a:pPr>
            <a:r>
              <a:rPr lang="en-US" sz="1400" dirty="0">
                <a:solidFill>
                  <a:schemeClr val="tx1"/>
                </a:solidFill>
              </a:rPr>
              <a:t>Cline (ClinePass, in VS Code) made real changes: a prompt fix so the extractor must return every field, plus a version bump and a test</a:t>
            </a:r>
            <a:endParaRPr lang="en-US" sz="1400" dirty="0"/>
          </a:p>
          <a:p>
            <a:pPr marL="177800" indent="-177800">
              <a:spcAft>
                <a:spcPts val="800"/>
              </a:spcAft>
              <a:buSzPct val="100000"/>
              <a:buChar char="•"/>
            </a:pPr>
            <a:r>
              <a:rPr lang="en-US" sz="1400" dirty="0">
                <a:solidFill>
                  <a:schemeClr val="tx1"/>
                </a:solidFill>
              </a:rPr>
              <a:t>Cline wrote the request-list test suite and the README write-up</a:t>
            </a:r>
            <a:endParaRPr lang="en-US" sz="1400" dirty="0"/>
          </a:p>
          <a:p>
            <a:pPr marL="177800" indent="-177800">
              <a:spcAft>
                <a:spcPts val="800"/>
              </a:spcAft>
              <a:buSzPct val="100000"/>
              <a:buChar char="•"/>
            </a:pPr>
            <a:r>
              <a:rPr lang="en-US" sz="1400" dirty="0">
                <a:solidFill>
                  <a:schemeClr val="tx1"/>
                </a:solidFill>
              </a:rPr>
              <a:t>Each change is a visible diff, a green test run and a commit</a:t>
            </a:r>
            <a:endParaRPr lang="en-US" sz="1400" dirty="0"/>
          </a:p>
        </p:txBody>
      </p:sp>
      <p:sp>
        <p:nvSpPr>
          <p:cNvPr id="8" name="Shape 5"/>
          <p:cNvSpPr/>
          <p:nvPr/>
        </p:nvSpPr>
        <p:spPr>
          <a:xfrm>
            <a:off x="822960" y="4572000"/>
            <a:ext cx="4815688" cy="1280160"/>
          </a:xfrm>
          <a:prstGeom prst="roundRect">
            <a:avLst>
              <a:gd name="adj" fmla="val 8571"/>
            </a:avLst>
          </a:prstGeom>
          <a:solidFill>
            <a:srgbClr val="FFF3D1"/>
          </a:solidFill>
          <a:ln w="12700">
            <a:solidFill>
              <a:srgbClr val="FCD34D"/>
            </a:solidFill>
            <a:prstDash val="solid"/>
          </a:ln>
        </p:spPr>
      </p:sp>
      <p:sp>
        <p:nvSpPr>
          <p:cNvPr id="9" name="Text 6"/>
          <p:cNvSpPr txBox="1"/>
          <p:nvPr/>
        </p:nvSpPr>
        <p:spPr>
          <a:xfrm>
            <a:off x="960120" y="4572000"/>
            <a:ext cx="4541368" cy="1280160"/>
          </a:xfrm>
          <a:prstGeom prst="rect">
            <a:avLst/>
          </a:prstGeom>
          <a:noFill/>
          <a:ln/>
        </p:spPr>
        <p:txBody>
          <a:bodyPr wrap="square" lIns="0" tIns="0" rIns="0" bIns="0" rtlCol="0" anchor="ctr"/>
          <a:lstStyle/>
          <a:p>
            <a:pPr indent="0" marL="0">
              <a:buNone/>
            </a:pPr>
            <a:r>
              <a:rPr lang="en-US" sz="1400" dirty="0">
                <a:solidFill>
                  <a:srgbClr val="7C4A03"/>
                </a:solidFill>
              </a:rPr>
              <a:t>To be plain: the first version of the pipeline, rules bridge and ledger signing was drafted with other AI coding assistants. The commit history shows who contributed what.</a:t>
            </a:r>
            <a:endParaRPr lang="en-US" sz="1400" dirty="0"/>
          </a:p>
        </p:txBody>
      </p:sp>
      <p:sp>
        <p:nvSpPr>
          <p:cNvPr id="10" name="Shape 7"/>
          <p:cNvSpPr/>
          <p:nvPr/>
        </p:nvSpPr>
        <p:spPr>
          <a:xfrm>
            <a:off x="6278728" y="1508760"/>
            <a:ext cx="5364328"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10774375" y="1600200"/>
            <a:ext cx="566928" cy="566928"/>
          </a:xfrm>
          <a:prstGeom prst="ellipse">
            <a:avLst/>
          </a:prstGeom>
          <a:solidFill>
            <a:schemeClr val="accent2"/>
          </a:solidFill>
          <a:ln w="12700">
            <a:solidFill>
              <a:schemeClr val="accent2"/>
            </a:solidFill>
            <a:prstDash val="solid"/>
          </a:ln>
        </p:spPr>
      </p:sp>
      <p:pic>
        <p:nvPicPr>
          <p:cNvPr id="12" name="Image 1" descr="PuzzlePiece">    </p:cNvPr>
          <p:cNvPicPr>
            <a:picLocks noChangeAspect="1"/>
          </p:cNvPicPr>
          <p:nvPr/>
        </p:nvPicPr>
        <p:blipFill>
          <a:blip r:embed="rId2"/>
          <a:stretch>
            <a:fillRect/>
          </a:stretch>
        </p:blipFill>
        <p:spPr>
          <a:xfrm>
            <a:off x="10916107" y="1741932"/>
            <a:ext cx="283464" cy="283464"/>
          </a:xfrm>
          <a:prstGeom prst="rect">
            <a:avLst/>
          </a:prstGeom>
        </p:spPr>
      </p:pic>
      <p:sp>
        <p:nvSpPr>
          <p:cNvPr id="13" name="Text 9"/>
          <p:cNvSpPr txBox="1"/>
          <p:nvPr/>
        </p:nvSpPr>
        <p:spPr>
          <a:xfrm>
            <a:off x="6553048" y="1645920"/>
            <a:ext cx="4815688" cy="457200"/>
          </a:xfrm>
          <a:prstGeom prst="rect">
            <a:avLst/>
          </a:prstGeom>
          <a:noFill/>
          <a:ln/>
        </p:spPr>
        <p:txBody>
          <a:bodyPr wrap="square" lIns="0" tIns="0" rIns="0" bIns="0" rtlCol="0" anchor="t"/>
          <a:lstStyle/>
          <a:p>
            <a:pPr indent="0" marL="0">
              <a:buNone/>
            </a:pPr>
            <a:r>
              <a:rPr lang="en-US" sz="2200" b="1" dirty="0">
                <a:solidFill>
                  <a:schemeClr val="tx2"/>
                </a:solidFill>
              </a:rPr>
              <a:t>Inside the product</a:t>
            </a:r>
            <a:endParaRPr lang="en-US" sz="2200" dirty="0"/>
          </a:p>
        </p:txBody>
      </p:sp>
      <p:sp>
        <p:nvSpPr>
          <p:cNvPr id="14" name="Text 10"/>
          <p:cNvSpPr txBox="1"/>
          <p:nvPr/>
        </p:nvSpPr>
        <p:spPr>
          <a:xfrm>
            <a:off x="6553048" y="2240280"/>
            <a:ext cx="4815688" cy="502920"/>
          </a:xfrm>
          <a:prstGeom prst="roundRect">
            <a:avLst>
              <a:gd name="adj" fmla="val 18182"/>
            </a:avLst>
          </a:prstGeom>
          <a:solidFill>
            <a:schemeClr val="accent1"/>
          </a:solidFill>
          <a:ln/>
        </p:spPr>
        <p:txBody>
          <a:bodyPr wrap="square" lIns="0" tIns="0" rIns="0" bIns="0" rtlCol="0" anchor="ctr"/>
          <a:lstStyle/>
          <a:p>
            <a:pPr algn="ctr" indent="0" marL="0">
              <a:buNone/>
            </a:pPr>
            <a:r>
              <a:rPr lang="en-US" sz="1600" b="1" dirty="0">
                <a:solidFill>
                  <a:schemeClr val="bg1"/>
                </a:solidFill>
              </a:rPr>
              <a:t>Cline SDK review agent</a:t>
            </a:r>
            <a:endParaRPr lang="en-US" sz="1600" dirty="0"/>
          </a:p>
        </p:txBody>
      </p:sp>
      <p:sp>
        <p:nvSpPr>
          <p:cNvPr id="15" name="Text 11"/>
          <p:cNvSpPr txBox="1"/>
          <p:nvPr/>
        </p:nvSpPr>
        <p:spPr>
          <a:xfrm>
            <a:off x="6553048" y="2926080"/>
            <a:ext cx="2270684" cy="384048"/>
          </a:xfrm>
          <a:prstGeom prst="roundRect">
            <a:avLst>
              <a:gd name="adj" fmla="val 19048"/>
            </a:avLst>
          </a:prstGeom>
          <a:solidFill>
            <a:srgbClr val="E5F6F2"/>
          </a:solidFill>
          <a:ln/>
        </p:spPr>
        <p:txBody>
          <a:bodyPr wrap="square" lIns="0" tIns="0" rIns="0" bIns="0" rtlCol="0" anchor="ctr"/>
          <a:lstStyle/>
          <a:p>
            <a:pPr algn="ctr" indent="0" marL="0">
              <a:buNone/>
            </a:pPr>
            <a:r>
              <a:rPr lang="en-US" sz="1200" dirty="0">
                <a:solidFill>
                  <a:srgbClr val="134E4A"/>
                </a:solidFill>
                <a:latin typeface="Consolas" pitchFamily="34" charset="0"/>
                <a:ea typeface="Consolas" pitchFamily="34" charset="-122"/>
                <a:cs typeface="Consolas" pitchFamily="34" charset="-120"/>
              </a:rPr>
              <a:t>get_field</a:t>
            </a:r>
            <a:endParaRPr lang="en-US" sz="1200" dirty="0"/>
          </a:p>
        </p:txBody>
      </p:sp>
      <p:sp>
        <p:nvSpPr>
          <p:cNvPr id="16" name="Text 12"/>
          <p:cNvSpPr txBox="1"/>
          <p:nvPr/>
        </p:nvSpPr>
        <p:spPr>
          <a:xfrm>
            <a:off x="9098051" y="2926080"/>
            <a:ext cx="2270684" cy="384048"/>
          </a:xfrm>
          <a:prstGeom prst="roundRect">
            <a:avLst>
              <a:gd name="adj" fmla="val 19048"/>
            </a:avLst>
          </a:prstGeom>
          <a:solidFill>
            <a:srgbClr val="E5F6F2"/>
          </a:solidFill>
          <a:ln/>
        </p:spPr>
        <p:txBody>
          <a:bodyPr wrap="square" lIns="0" tIns="0" rIns="0" bIns="0" rtlCol="0" anchor="ctr"/>
          <a:lstStyle/>
          <a:p>
            <a:pPr algn="ctr" indent="0" marL="0">
              <a:buNone/>
            </a:pPr>
            <a:r>
              <a:rPr lang="en-US" sz="1200" dirty="0">
                <a:solidFill>
                  <a:srgbClr val="134E4A"/>
                </a:solidFill>
                <a:latin typeface="Consolas" pitchFamily="34" charset="0"/>
                <a:ea typeface="Consolas" pitchFamily="34" charset="-122"/>
                <a:cs typeface="Consolas" pitchFamily="34" charset="-120"/>
              </a:rPr>
              <a:t>read_page_text</a:t>
            </a:r>
            <a:endParaRPr lang="en-US" sz="1200" dirty="0"/>
          </a:p>
        </p:txBody>
      </p:sp>
      <p:sp>
        <p:nvSpPr>
          <p:cNvPr id="17" name="Text 13"/>
          <p:cNvSpPr txBox="1"/>
          <p:nvPr/>
        </p:nvSpPr>
        <p:spPr>
          <a:xfrm>
            <a:off x="6553048" y="3429000"/>
            <a:ext cx="2270684" cy="384048"/>
          </a:xfrm>
          <a:prstGeom prst="roundRect">
            <a:avLst>
              <a:gd name="adj" fmla="val 19048"/>
            </a:avLst>
          </a:prstGeom>
          <a:solidFill>
            <a:srgbClr val="E5F6F2"/>
          </a:solidFill>
          <a:ln/>
        </p:spPr>
        <p:txBody>
          <a:bodyPr wrap="square" lIns="0" tIns="0" rIns="0" bIns="0" rtlCol="0" anchor="ctr"/>
          <a:lstStyle/>
          <a:p>
            <a:pPr algn="ctr" indent="0" marL="0">
              <a:buNone/>
            </a:pPr>
            <a:r>
              <a:rPr lang="en-US" sz="1200" dirty="0">
                <a:solidFill>
                  <a:srgbClr val="134E4A"/>
                </a:solidFill>
                <a:latin typeface="Consolas" pitchFamily="34" charset="0"/>
                <a:ea typeface="Consolas" pitchFamily="34" charset="-122"/>
                <a:cs typeface="Consolas" pitchFamily="34" charset="-120"/>
              </a:rPr>
              <a:t>validate_field</a:t>
            </a:r>
            <a:endParaRPr lang="en-US" sz="1200" dirty="0"/>
          </a:p>
        </p:txBody>
      </p:sp>
      <p:sp>
        <p:nvSpPr>
          <p:cNvPr id="18" name="Text 14"/>
          <p:cNvSpPr txBox="1"/>
          <p:nvPr/>
        </p:nvSpPr>
        <p:spPr>
          <a:xfrm>
            <a:off x="9098051" y="3429000"/>
            <a:ext cx="2270684" cy="384048"/>
          </a:xfrm>
          <a:prstGeom prst="roundRect">
            <a:avLst>
              <a:gd name="adj" fmla="val 19048"/>
            </a:avLst>
          </a:prstGeom>
          <a:solidFill>
            <a:srgbClr val="E5F6F2"/>
          </a:solidFill>
          <a:ln/>
        </p:spPr>
        <p:txBody>
          <a:bodyPr wrap="square" lIns="0" tIns="0" rIns="0" bIns="0" rtlCol="0" anchor="ctr"/>
          <a:lstStyle/>
          <a:p>
            <a:pPr algn="ctr" indent="0" marL="0">
              <a:buNone/>
            </a:pPr>
            <a:r>
              <a:rPr lang="en-US" sz="1200" dirty="0">
                <a:solidFill>
                  <a:srgbClr val="134E4A"/>
                </a:solidFill>
                <a:latin typeface="Consolas" pitchFamily="34" charset="0"/>
                <a:ea typeface="Consolas" pitchFamily="34" charset="-122"/>
                <a:cs typeface="Consolas" pitchFamily="34" charset="-120"/>
              </a:rPr>
              <a:t>propose_correction</a:t>
            </a:r>
            <a:endParaRPr lang="en-US" sz="1200" dirty="0"/>
          </a:p>
        </p:txBody>
      </p:sp>
      <p:sp>
        <p:nvSpPr>
          <p:cNvPr id="19" name="Shape 15"/>
          <p:cNvSpPr/>
          <p:nvPr/>
        </p:nvSpPr>
        <p:spPr>
          <a:xfrm>
            <a:off x="8823731" y="3977640"/>
            <a:ext cx="274320" cy="274320"/>
          </a:xfrm>
          <a:prstGeom prst="downArrow">
            <a:avLst/>
          </a:prstGeom>
          <a:solidFill>
            <a:schemeClr val="accent2"/>
          </a:solidFill>
          <a:ln w="12700">
            <a:solidFill>
              <a:schemeClr val="accent2"/>
            </a:solidFill>
            <a:prstDash val="solid"/>
          </a:ln>
        </p:spPr>
      </p:sp>
      <p:sp>
        <p:nvSpPr>
          <p:cNvPr id="20" name="Text 16"/>
          <p:cNvSpPr txBox="1"/>
          <p:nvPr/>
        </p:nvSpPr>
        <p:spPr>
          <a:xfrm>
            <a:off x="6553048" y="4297680"/>
            <a:ext cx="4815688" cy="548640"/>
          </a:xfrm>
          <a:prstGeom prst="roundRect">
            <a:avLst>
              <a:gd name="adj" fmla="val 16667"/>
            </a:avLst>
          </a:prstGeom>
          <a:solidFill>
            <a:srgbClr val="FDE9C4"/>
          </a:solidFill>
          <a:ln/>
        </p:spPr>
        <p:txBody>
          <a:bodyPr wrap="square" lIns="635" tIns="635" rIns="635" bIns="635" rtlCol="0" anchor="ctr"/>
          <a:lstStyle/>
          <a:p>
            <a:pPr algn="ctr" indent="0" marL="0">
              <a:buNone/>
            </a:pPr>
            <a:r>
              <a:rPr lang="en-US" sz="1400" b="1" dirty="0">
                <a:solidFill>
                  <a:srgbClr val="7C4A03"/>
                </a:solidFill>
              </a:rPr>
              <a:t>Python re-checks: format valid AND quote found on the page</a:t>
            </a:r>
            <a:endParaRPr lang="en-US" sz="1400" dirty="0"/>
          </a:p>
        </p:txBody>
      </p:sp>
      <p:sp>
        <p:nvSpPr>
          <p:cNvPr id="21" name="Text 17"/>
          <p:cNvSpPr txBox="1"/>
          <p:nvPr/>
        </p:nvSpPr>
        <p:spPr>
          <a:xfrm>
            <a:off x="6553048" y="4937760"/>
            <a:ext cx="4815688" cy="1051560"/>
          </a:xfrm>
          <a:prstGeom prst="rect">
            <a:avLst/>
          </a:prstGeom>
          <a:noFill/>
          <a:ln/>
        </p:spPr>
        <p:txBody>
          <a:bodyPr wrap="square" lIns="0" tIns="0" rIns="0" bIns="0" rtlCol="0" anchor="t"/>
          <a:lstStyle/>
          <a:p>
            <a:pPr indent="0" marL="0">
              <a:buNone/>
            </a:pPr>
            <a:r>
              <a:rPr lang="en-US" sz="1400" dirty="0">
                <a:solidFill>
                  <a:schemeClr val="tx1"/>
                </a:solidFill>
              </a:rPr>
              <a:t>It has no tool to run rules, create flags or touch the ledger. It works with the agent switched off. On our test set it recovered 0 of 1 field: deliberately conservative.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Measured results</a:t>
            </a:r>
            <a:endParaRPr lang="en-US" sz="3600" dirty="0"/>
          </a:p>
        </p:txBody>
      </p:sp>
      <p:sp>
        <p:nvSpPr>
          <p:cNvPr id="3" name="Shape 1"/>
          <p:cNvSpPr/>
          <p:nvPr/>
        </p:nvSpPr>
        <p:spPr>
          <a:xfrm>
            <a:off x="548640" y="1508760"/>
            <a:ext cx="6309360" cy="4343400"/>
          </a:xfrm>
          <a:prstGeom prst="roundRect">
            <a:avLst>
              <a:gd name="adj" fmla="val 2526"/>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graphicFrame>
        <p:nvGraphicFramePr>
          <p:cNvPr id="4" name="Chart 0" descr=""/>
          <p:cNvGraphicFramePr/>
          <p:nvPr/>
        </p:nvGraphicFramePr>
        <p:xfrm>
          <a:off x="685800" y="1600200"/>
          <a:ext cx="6035040" cy="4160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32320" y="1508760"/>
            <a:ext cx="4510735" cy="1051560"/>
          </a:xfrm>
          <a:prstGeom prst="roundRect">
            <a:avLst>
              <a:gd name="adj" fmla="val 10435"/>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315200" y="1600200"/>
            <a:ext cx="1600200" cy="868680"/>
          </a:xfrm>
          <a:prstGeom prst="rect">
            <a:avLst/>
          </a:prstGeom>
          <a:noFill/>
          <a:ln/>
        </p:spPr>
        <p:txBody>
          <a:bodyPr wrap="square" lIns="0" tIns="0" rIns="0" bIns="0" rtlCol="0" anchor="ctr"/>
          <a:lstStyle/>
          <a:p>
            <a:pPr indent="0" marL="0">
              <a:buNone/>
            </a:pPr>
            <a:r>
              <a:rPr lang="en-US" sz="2800" b="1" dirty="0">
                <a:solidFill>
                  <a:schemeClr val="accent1"/>
                </a:solidFill>
              </a:rPr>
              <a:t>161</a:t>
            </a:r>
            <a:endParaRPr lang="en-US" sz="2800" dirty="0"/>
          </a:p>
        </p:txBody>
      </p:sp>
      <p:sp>
        <p:nvSpPr>
          <p:cNvPr id="7" name="Text 4"/>
          <p:cNvSpPr txBox="1"/>
          <p:nvPr/>
        </p:nvSpPr>
        <p:spPr>
          <a:xfrm>
            <a:off x="8961120" y="1600200"/>
            <a:ext cx="2499055" cy="868680"/>
          </a:xfrm>
          <a:prstGeom prst="rect">
            <a:avLst/>
          </a:prstGeom>
          <a:noFill/>
          <a:ln/>
        </p:spPr>
        <p:txBody>
          <a:bodyPr wrap="square" lIns="0" tIns="0" rIns="0" bIns="0" rtlCol="0" anchor="ctr"/>
          <a:lstStyle/>
          <a:p>
            <a:pPr indent="0" marL="0">
              <a:buNone/>
            </a:pPr>
            <a:r>
              <a:rPr lang="en-US" sz="1300" dirty="0">
                <a:solidFill>
                  <a:schemeClr val="tx1"/>
                </a:solidFill>
              </a:rPr>
              <a:t>labelled fields, 7 synthetic deeds: clean and scanned English, Hindi, handwriting-style</a:t>
            </a:r>
            <a:endParaRPr lang="en-US" sz="1300" dirty="0"/>
          </a:p>
        </p:txBody>
      </p:sp>
      <p:sp>
        <p:nvSpPr>
          <p:cNvPr id="8" name="Shape 5"/>
          <p:cNvSpPr/>
          <p:nvPr/>
        </p:nvSpPr>
        <p:spPr>
          <a:xfrm>
            <a:off x="7132320" y="2697480"/>
            <a:ext cx="4510735" cy="1051560"/>
          </a:xfrm>
          <a:prstGeom prst="roundRect">
            <a:avLst>
              <a:gd name="adj" fmla="val 10435"/>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7315200" y="2788920"/>
            <a:ext cx="1600200" cy="868680"/>
          </a:xfrm>
          <a:prstGeom prst="rect">
            <a:avLst/>
          </a:prstGeom>
          <a:noFill/>
          <a:ln/>
        </p:spPr>
        <p:txBody>
          <a:bodyPr wrap="square" lIns="0" tIns="0" rIns="0" bIns="0" rtlCol="0" anchor="ctr"/>
          <a:lstStyle/>
          <a:p>
            <a:pPr indent="0" marL="0">
              <a:buNone/>
            </a:pPr>
            <a:r>
              <a:rPr lang="en-US" sz="2800" b="1" dirty="0">
                <a:solidFill>
                  <a:schemeClr val="accent1"/>
                </a:solidFill>
              </a:rPr>
              <a:t>11 / 11</a:t>
            </a:r>
            <a:endParaRPr lang="en-US" sz="2800" dirty="0"/>
          </a:p>
        </p:txBody>
      </p:sp>
      <p:sp>
        <p:nvSpPr>
          <p:cNvPr id="10" name="Text 7"/>
          <p:cNvSpPr txBox="1"/>
          <p:nvPr/>
        </p:nvSpPr>
        <p:spPr>
          <a:xfrm>
            <a:off x="8961120" y="2788920"/>
            <a:ext cx="2499055" cy="868680"/>
          </a:xfrm>
          <a:prstGeom prst="rect">
            <a:avLst/>
          </a:prstGeom>
          <a:noFill/>
          <a:ln/>
        </p:spPr>
        <p:txBody>
          <a:bodyPr wrap="square" lIns="0" tIns="0" rIns="0" bIns="0" rtlCol="0" anchor="ctr"/>
          <a:lstStyle/>
          <a:p>
            <a:pPr indent="0" marL="0">
              <a:buNone/>
            </a:pPr>
            <a:r>
              <a:rPr lang="en-US" sz="1300" dirty="0">
                <a:solidFill>
                  <a:schemeClr val="tx1"/>
                </a:solidFill>
              </a:rPr>
              <a:t>rule cases correct on planted defects, including the succession decoy</a:t>
            </a:r>
            <a:endParaRPr lang="en-US" sz="1300" dirty="0"/>
          </a:p>
        </p:txBody>
      </p:sp>
      <p:sp>
        <p:nvSpPr>
          <p:cNvPr id="11" name="Shape 8"/>
          <p:cNvSpPr/>
          <p:nvPr/>
        </p:nvSpPr>
        <p:spPr>
          <a:xfrm>
            <a:off x="7132320" y="3886200"/>
            <a:ext cx="4510735" cy="1051560"/>
          </a:xfrm>
          <a:prstGeom prst="roundRect">
            <a:avLst>
              <a:gd name="adj" fmla="val 10435"/>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7315200" y="3977640"/>
            <a:ext cx="1600200" cy="868680"/>
          </a:xfrm>
          <a:prstGeom prst="rect">
            <a:avLst/>
          </a:prstGeom>
          <a:noFill/>
          <a:ln/>
        </p:spPr>
        <p:txBody>
          <a:bodyPr wrap="square" lIns="0" tIns="0" rIns="0" bIns="0" rtlCol="0" anchor="ctr"/>
          <a:lstStyle/>
          <a:p>
            <a:pPr indent="0" marL="0">
              <a:buNone/>
            </a:pPr>
            <a:r>
              <a:rPr lang="en-US" sz="2800" b="1" dirty="0">
                <a:solidFill>
                  <a:schemeClr val="accent1"/>
                </a:solidFill>
              </a:rPr>
              <a:t>75</a:t>
            </a:r>
            <a:endParaRPr lang="en-US" sz="2800" dirty="0"/>
          </a:p>
        </p:txBody>
      </p:sp>
      <p:sp>
        <p:nvSpPr>
          <p:cNvPr id="13" name="Text 10"/>
          <p:cNvSpPr txBox="1"/>
          <p:nvPr/>
        </p:nvSpPr>
        <p:spPr>
          <a:xfrm>
            <a:off x="8961120" y="3977640"/>
            <a:ext cx="2499055" cy="868680"/>
          </a:xfrm>
          <a:prstGeom prst="rect">
            <a:avLst/>
          </a:prstGeom>
          <a:noFill/>
          <a:ln/>
        </p:spPr>
        <p:txBody>
          <a:bodyPr wrap="square" lIns="0" tIns="0" rIns="0" bIns="0" rtlCol="0" anchor="ctr"/>
          <a:lstStyle/>
          <a:p>
            <a:pPr indent="0" marL="0">
              <a:buNone/>
            </a:pPr>
            <a:r>
              <a:rPr lang="en-US" sz="1300" dirty="0">
                <a:solidFill>
                  <a:schemeClr val="tx1"/>
                </a:solidFill>
              </a:rPr>
              <a:t>offline tests pass</a:t>
            </a:r>
            <a:endParaRPr lang="en-US" sz="1300" dirty="0"/>
          </a:p>
        </p:txBody>
      </p:sp>
      <p:sp>
        <p:nvSpPr>
          <p:cNvPr id="14" name="Shape 11"/>
          <p:cNvSpPr/>
          <p:nvPr/>
        </p:nvSpPr>
        <p:spPr>
          <a:xfrm>
            <a:off x="7132320" y="5074920"/>
            <a:ext cx="4510735" cy="777240"/>
          </a:xfrm>
          <a:prstGeom prst="roundRect">
            <a:avLst>
              <a:gd name="adj" fmla="val 14118"/>
            </a:avLst>
          </a:prstGeom>
          <a:solidFill>
            <a:srgbClr val="FFF3D1"/>
          </a:solidFill>
          <a:ln w="12700">
            <a:solidFill>
              <a:srgbClr val="FCD34D"/>
            </a:solidFill>
            <a:prstDash val="solid"/>
          </a:ln>
        </p:spPr>
      </p:sp>
      <p:sp>
        <p:nvSpPr>
          <p:cNvPr id="15" name="Text 12"/>
          <p:cNvSpPr txBox="1"/>
          <p:nvPr/>
        </p:nvSpPr>
        <p:spPr>
          <a:xfrm>
            <a:off x="7315200" y="5074920"/>
            <a:ext cx="4144975" cy="777240"/>
          </a:xfrm>
          <a:prstGeom prst="rect">
            <a:avLst/>
          </a:prstGeom>
          <a:noFill/>
          <a:ln/>
        </p:spPr>
        <p:txBody>
          <a:bodyPr wrap="square" lIns="0" tIns="0" rIns="0" bIns="0" rtlCol="0" anchor="ctr"/>
          <a:lstStyle/>
          <a:p>
            <a:pPr indent="0" marL="0">
              <a:buNone/>
            </a:pPr>
            <a:r>
              <a:rPr lang="en-US" sz="1300" dirty="0">
                <a:solidFill>
                  <a:srgbClr val="7C4A03"/>
                </a:solidFill>
              </a:rPr>
              <a:t>Synthetic data we authored; one model. One blurred “Bora” was read as “Boro”.</a:t>
            </a:r>
            <a:endParaRPr lang="en-US" sz="1300" dirty="0"/>
          </a:p>
        </p:txBody>
      </p:sp>
      <p:sp>
        <p:nvSpPr>
          <p:cNvPr id="16" name="Text 13"/>
          <p:cNvSpPr txBox="1"/>
          <p:nvPr/>
        </p:nvSpPr>
        <p:spPr>
          <a:xfrm>
            <a:off x="548640" y="5943600"/>
            <a:ext cx="11094415" cy="365760"/>
          </a:xfrm>
          <a:prstGeom prst="rect">
            <a:avLst/>
          </a:prstGeom>
          <a:noFill/>
          <a:ln/>
        </p:spPr>
        <p:txBody>
          <a:bodyPr wrap="square" lIns="0" tIns="0" rIns="0" bIns="0" rtlCol="0" anchor="t"/>
          <a:lstStyle/>
          <a:p>
            <a:pPr indent="0" marL="0">
              <a:buNone/>
            </a:pPr>
            <a:r>
              <a:rPr lang="en-US" sz="1200" dirty="0">
                <a:solidFill>
                  <a:srgbClr val="5B7276"/>
                </a:solidFill>
              </a:rPr>
              <a:t>Rule results use canned extraction replies, so they test the rules, not OCR. Abstained fields: 1.9% (sent to review).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Challenges we hit and fixed</a:t>
            </a:r>
            <a:endParaRPr lang="en-US" sz="3600" dirty="0"/>
          </a:p>
        </p:txBody>
      </p:sp>
      <p:sp>
        <p:nvSpPr>
          <p:cNvPr id="3" name="Text 1"/>
          <p:cNvSpPr txBox="1"/>
          <p:nvPr/>
        </p:nvSpPr>
        <p:spPr>
          <a:xfrm>
            <a:off x="548640" y="1481328"/>
            <a:ext cx="3749040" cy="457200"/>
          </a:xfrm>
          <a:prstGeom prst="rect">
            <a:avLst/>
          </a:prstGeom>
          <a:noFill/>
          <a:ln/>
        </p:spPr>
        <p:txBody>
          <a:bodyPr wrap="square" lIns="0" tIns="0" rIns="0" bIns="0" rtlCol="0" anchor="ctr"/>
          <a:lstStyle/>
          <a:p>
            <a:pPr indent="0" marL="0">
              <a:buNone/>
            </a:pPr>
            <a:r>
              <a:rPr lang="en-US" sz="1500" b="1" dirty="0">
                <a:solidFill>
                  <a:schemeClr val="tx2"/>
                </a:solidFill>
              </a:rPr>
              <a:t>5 problems found with real inputs, all fixed:</a:t>
            </a:r>
            <a:endParaRPr lang="en-US" sz="1500" dirty="0"/>
          </a:p>
        </p:txBody>
      </p:sp>
      <p:sp>
        <p:nvSpPr>
          <p:cNvPr id="4" name="Text 2"/>
          <p:cNvSpPr txBox="1"/>
          <p:nvPr/>
        </p:nvSpPr>
        <p:spPr>
          <a:xfrm>
            <a:off x="4389120" y="1481328"/>
            <a:ext cx="1691640" cy="457200"/>
          </a:xfrm>
          <a:prstGeom prst="roundRect">
            <a:avLst>
              <a:gd name="adj" fmla="val 24000"/>
            </a:avLst>
          </a:prstGeom>
          <a:solidFill>
            <a:schemeClr val="accent3"/>
          </a:solidFill>
          <a:ln/>
        </p:spPr>
        <p:txBody>
          <a:bodyPr wrap="square" lIns="0" tIns="0" rIns="0" bIns="0" rtlCol="0" anchor="ctr"/>
          <a:lstStyle/>
          <a:p>
            <a:pPr algn="ctr" indent="0" marL="0">
              <a:buNone/>
            </a:pPr>
            <a:r>
              <a:rPr lang="en-US" sz="1400" b="1" dirty="0">
                <a:solidFill>
                  <a:schemeClr val="bg1"/>
                </a:solidFill>
              </a:rPr>
              <a:t>Privacy  ·  1</a:t>
            </a:r>
            <a:endParaRPr lang="en-US" sz="1400" dirty="0"/>
          </a:p>
        </p:txBody>
      </p:sp>
      <p:sp>
        <p:nvSpPr>
          <p:cNvPr id="5" name="Text 3"/>
          <p:cNvSpPr txBox="1"/>
          <p:nvPr/>
        </p:nvSpPr>
        <p:spPr>
          <a:xfrm>
            <a:off x="6172200" y="1481328"/>
            <a:ext cx="1691640" cy="457200"/>
          </a:xfrm>
          <a:prstGeom prst="roundRect">
            <a:avLst>
              <a:gd name="adj" fmla="val 24000"/>
            </a:avLst>
          </a:prstGeom>
          <a:solidFill>
            <a:schemeClr val="accent4"/>
          </a:solidFill>
          <a:ln/>
        </p:spPr>
        <p:txBody>
          <a:bodyPr wrap="square" lIns="0" tIns="0" rIns="0" bIns="0" rtlCol="0" anchor="ctr"/>
          <a:lstStyle/>
          <a:p>
            <a:pPr algn="ctr" indent="0" marL="0">
              <a:buNone/>
            </a:pPr>
            <a:r>
              <a:rPr lang="en-US" sz="1400" b="1" dirty="0">
                <a:solidFill>
                  <a:schemeClr val="bg1"/>
                </a:solidFill>
              </a:rPr>
              <a:t>Reliability  ·  2</a:t>
            </a:r>
            <a:endParaRPr lang="en-US" sz="1400" dirty="0"/>
          </a:p>
        </p:txBody>
      </p:sp>
      <p:sp>
        <p:nvSpPr>
          <p:cNvPr id="6" name="Text 4"/>
          <p:cNvSpPr txBox="1"/>
          <p:nvPr/>
        </p:nvSpPr>
        <p:spPr>
          <a:xfrm>
            <a:off x="7955280" y="1481328"/>
            <a:ext cx="1691640" cy="457200"/>
          </a:xfrm>
          <a:prstGeom prst="roundRect">
            <a:avLst>
              <a:gd name="adj" fmla="val 24000"/>
            </a:avLst>
          </a:prstGeom>
          <a:solidFill>
            <a:schemeClr val="accent5"/>
          </a:solidFill>
          <a:ln/>
        </p:spPr>
        <p:txBody>
          <a:bodyPr wrap="square" lIns="0" tIns="0" rIns="0" bIns="0" rtlCol="0" anchor="ctr"/>
          <a:lstStyle/>
          <a:p>
            <a:pPr algn="ctr" indent="0" marL="0">
              <a:buNone/>
            </a:pPr>
            <a:r>
              <a:rPr lang="en-US" sz="1400" b="1" dirty="0">
                <a:solidFill>
                  <a:schemeClr val="bg1"/>
                </a:solidFill>
              </a:rPr>
              <a:t>Integration  ·  1</a:t>
            </a:r>
            <a:endParaRPr lang="en-US" sz="1400" dirty="0"/>
          </a:p>
        </p:txBody>
      </p:sp>
      <p:sp>
        <p:nvSpPr>
          <p:cNvPr id="7" name="Text 5"/>
          <p:cNvSpPr txBox="1"/>
          <p:nvPr/>
        </p:nvSpPr>
        <p:spPr>
          <a:xfrm>
            <a:off x="9738360" y="1481328"/>
            <a:ext cx="169164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400" b="1" dirty="0">
                <a:solidFill>
                  <a:schemeClr val="bg1"/>
                </a:solidFill>
              </a:rPr>
              <a:t>Cost and quota  ·  1</a:t>
            </a:r>
            <a:endParaRPr lang="en-US" sz="1400" dirty="0"/>
          </a:p>
        </p:txBody>
      </p:sp>
      <p:sp>
        <p:nvSpPr>
          <p:cNvPr id="8" name="Shape 6"/>
          <p:cNvSpPr/>
          <p:nvPr/>
        </p:nvSpPr>
        <p:spPr>
          <a:xfrm>
            <a:off x="548640" y="2148840"/>
            <a:ext cx="6309360" cy="694944"/>
          </a:xfrm>
          <a:prstGeom prst="roundRect">
            <a:avLst>
              <a:gd name="adj" fmla="val 1578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9" name="Shape 7"/>
          <p:cNvSpPr/>
          <p:nvPr/>
        </p:nvSpPr>
        <p:spPr>
          <a:xfrm>
            <a:off x="685800" y="2249424"/>
            <a:ext cx="457200" cy="457200"/>
          </a:xfrm>
          <a:prstGeom prst="ellipse">
            <a:avLst/>
          </a:prstGeom>
          <a:solidFill>
            <a:schemeClr val="accent3"/>
          </a:solidFill>
          <a:ln w="12700">
            <a:solidFill>
              <a:schemeClr val="accent3"/>
            </a:solidFill>
            <a:prstDash val="solid"/>
          </a:ln>
        </p:spPr>
      </p:sp>
      <p:pic>
        <p:nvPicPr>
          <p:cNvPr id="10" name="Image 0" descr="ShieldHalved">    </p:cNvPr>
          <p:cNvPicPr>
            <a:picLocks noChangeAspect="1"/>
          </p:cNvPicPr>
          <p:nvPr/>
        </p:nvPicPr>
        <p:blipFill>
          <a:blip r:embed="rId1"/>
          <a:stretch>
            <a:fillRect/>
          </a:stretch>
        </p:blipFill>
        <p:spPr>
          <a:xfrm>
            <a:off x="800100" y="2363724"/>
            <a:ext cx="228600" cy="228600"/>
          </a:xfrm>
          <a:prstGeom prst="rect">
            <a:avLst/>
          </a:prstGeom>
        </p:spPr>
      </p:pic>
      <p:sp>
        <p:nvSpPr>
          <p:cNvPr id="11" name="Text 8"/>
          <p:cNvSpPr txBox="1"/>
          <p:nvPr/>
        </p:nvSpPr>
        <p:spPr>
          <a:xfrm>
            <a:off x="1280160" y="2148840"/>
            <a:ext cx="5440680" cy="694944"/>
          </a:xfrm>
          <a:prstGeom prst="rect">
            <a:avLst/>
          </a:prstGeom>
          <a:noFill/>
          <a:ln/>
        </p:spPr>
        <p:txBody>
          <a:bodyPr wrap="square" lIns="0" tIns="0" rIns="0" bIns="0" rtlCol="0" anchor="ctr"/>
          <a:lstStyle/>
          <a:p>
            <a:pPr indent="0" marL="0">
              <a:buNone/>
            </a:pPr>
            <a:r>
              <a:rPr lang="en-US" sz="1400" dirty="0">
                <a:solidFill>
                  <a:schemeClr val="tx1"/>
                </a:solidFill>
              </a:rPr>
              <a:t>An Aadhaar number was not masked when a full stop (or the Hindi danda) followed it</a:t>
            </a:r>
            <a:endParaRPr lang="en-US" sz="1400" dirty="0"/>
          </a:p>
        </p:txBody>
      </p:sp>
      <p:sp>
        <p:nvSpPr>
          <p:cNvPr id="12" name="Shape 9"/>
          <p:cNvSpPr/>
          <p:nvPr/>
        </p:nvSpPr>
        <p:spPr>
          <a:xfrm>
            <a:off x="6922008" y="2377440"/>
            <a:ext cx="274320" cy="237744"/>
          </a:xfrm>
          <a:prstGeom prst="rightArrow">
            <a:avLst/>
          </a:prstGeom>
          <a:solidFill>
            <a:schemeClr val="accent2"/>
          </a:solidFill>
          <a:ln w="12700">
            <a:solidFill>
              <a:schemeClr val="accent2"/>
            </a:solidFill>
            <a:prstDash val="solid"/>
          </a:ln>
        </p:spPr>
      </p:sp>
      <p:sp>
        <p:nvSpPr>
          <p:cNvPr id="13" name="Shape 10"/>
          <p:cNvSpPr/>
          <p:nvPr/>
        </p:nvSpPr>
        <p:spPr>
          <a:xfrm>
            <a:off x="7269480" y="2148840"/>
            <a:ext cx="4373575" cy="694944"/>
          </a:xfrm>
          <a:prstGeom prst="roundRect">
            <a:avLst>
              <a:gd name="adj" fmla="val 15789"/>
            </a:avLst>
          </a:prstGeom>
          <a:solidFill>
            <a:srgbClr val="ECFDF5"/>
          </a:solidFill>
          <a:ln w="12700">
            <a:solidFill>
              <a:srgbClr val="A7F3D0"/>
            </a:solidFill>
            <a:prstDash val="solid"/>
          </a:ln>
        </p:spPr>
      </p:sp>
      <p:sp>
        <p:nvSpPr>
          <p:cNvPr id="14" name="Shape 11"/>
          <p:cNvSpPr/>
          <p:nvPr/>
        </p:nvSpPr>
        <p:spPr>
          <a:xfrm>
            <a:off x="7406640" y="2276856"/>
            <a:ext cx="402336" cy="402336"/>
          </a:xfrm>
          <a:prstGeom prst="ellipse">
            <a:avLst/>
          </a:prstGeom>
          <a:solidFill>
            <a:schemeClr val="accent6"/>
          </a:solidFill>
          <a:ln w="12700">
            <a:solidFill>
              <a:schemeClr val="accent6"/>
            </a:solidFill>
            <a:prstDash val="solid"/>
          </a:ln>
        </p:spPr>
      </p:sp>
      <p:pic>
        <p:nvPicPr>
          <p:cNvPr id="15" name="Image 1" descr="CircleCheck">    </p:cNvPr>
          <p:cNvPicPr>
            <a:picLocks noChangeAspect="1"/>
          </p:cNvPicPr>
          <p:nvPr/>
        </p:nvPicPr>
        <p:blipFill>
          <a:blip r:embed="rId2"/>
          <a:stretch>
            <a:fillRect/>
          </a:stretch>
        </p:blipFill>
        <p:spPr>
          <a:xfrm>
            <a:off x="7507224" y="2377440"/>
            <a:ext cx="201168" cy="201168"/>
          </a:xfrm>
          <a:prstGeom prst="rect">
            <a:avLst/>
          </a:prstGeom>
        </p:spPr>
      </p:pic>
      <p:sp>
        <p:nvSpPr>
          <p:cNvPr id="16" name="Text 12"/>
          <p:cNvSpPr txBox="1"/>
          <p:nvPr/>
        </p:nvSpPr>
        <p:spPr>
          <a:xfrm>
            <a:off x="7927848" y="2148840"/>
            <a:ext cx="3596335" cy="694944"/>
          </a:xfrm>
          <a:prstGeom prst="rect">
            <a:avLst/>
          </a:prstGeom>
          <a:noFill/>
          <a:ln/>
        </p:spPr>
        <p:txBody>
          <a:bodyPr wrap="square" lIns="0" tIns="0" rIns="0" bIns="0" rtlCol="0" anchor="ctr"/>
          <a:lstStyle/>
          <a:p>
            <a:pPr indent="0" marL="0">
              <a:buNone/>
            </a:pPr>
            <a:r>
              <a:rPr lang="en-US" sz="1400" dirty="0">
                <a:solidFill>
                  <a:srgbClr val="065F46"/>
                </a:solidFill>
              </a:rPr>
              <a:t>Punctuation-aware matching and regression tests</a:t>
            </a:r>
            <a:endParaRPr lang="en-US" sz="1400" dirty="0"/>
          </a:p>
        </p:txBody>
      </p:sp>
      <p:sp>
        <p:nvSpPr>
          <p:cNvPr id="17" name="Shape 13"/>
          <p:cNvSpPr/>
          <p:nvPr/>
        </p:nvSpPr>
        <p:spPr>
          <a:xfrm>
            <a:off x="548640" y="2953512"/>
            <a:ext cx="6309360" cy="694944"/>
          </a:xfrm>
          <a:prstGeom prst="roundRect">
            <a:avLst>
              <a:gd name="adj" fmla="val 1578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18" name="Shape 14"/>
          <p:cNvSpPr/>
          <p:nvPr/>
        </p:nvSpPr>
        <p:spPr>
          <a:xfrm>
            <a:off x="685800" y="3054096"/>
            <a:ext cx="457200" cy="457200"/>
          </a:xfrm>
          <a:prstGeom prst="ellipse">
            <a:avLst/>
          </a:prstGeom>
          <a:solidFill>
            <a:schemeClr val="accent4"/>
          </a:solidFill>
          <a:ln w="12700">
            <a:solidFill>
              <a:schemeClr val="accent4"/>
            </a:solidFill>
            <a:prstDash val="solid"/>
          </a:ln>
        </p:spPr>
      </p:sp>
      <p:pic>
        <p:nvPicPr>
          <p:cNvPr id="19" name="Image 2" descr="Brain">    </p:cNvPr>
          <p:cNvPicPr>
            <a:picLocks noChangeAspect="1"/>
          </p:cNvPicPr>
          <p:nvPr/>
        </p:nvPicPr>
        <p:blipFill>
          <a:blip r:embed="rId3"/>
          <a:stretch>
            <a:fillRect/>
          </a:stretch>
        </p:blipFill>
        <p:spPr>
          <a:xfrm>
            <a:off x="800100" y="3168396"/>
            <a:ext cx="228600" cy="228600"/>
          </a:xfrm>
          <a:prstGeom prst="rect">
            <a:avLst/>
          </a:prstGeom>
        </p:spPr>
      </p:pic>
      <p:sp>
        <p:nvSpPr>
          <p:cNvPr id="20" name="Text 15"/>
          <p:cNvSpPr txBox="1"/>
          <p:nvPr/>
        </p:nvSpPr>
        <p:spPr>
          <a:xfrm>
            <a:off x="1280160" y="2953512"/>
            <a:ext cx="5440680" cy="694944"/>
          </a:xfrm>
          <a:prstGeom prst="rect">
            <a:avLst/>
          </a:prstGeom>
          <a:noFill/>
          <a:ln/>
        </p:spPr>
        <p:txBody>
          <a:bodyPr wrap="square" lIns="0" tIns="0" rIns="0" bIns="0" rtlCol="0" anchor="ctr"/>
          <a:lstStyle/>
          <a:p>
            <a:pPr indent="0" marL="0">
              <a:buNone/>
            </a:pPr>
            <a:r>
              <a:rPr lang="en-US" sz="1400" dirty="0">
                <a:solidFill>
                  <a:schemeClr val="tx1"/>
                </a:solidFill>
              </a:rPr>
              <a:t>Gemini spent 15.7k of 16.4k tokens “thinking”; the reply was cut off</a:t>
            </a:r>
            <a:endParaRPr lang="en-US" sz="1400" dirty="0"/>
          </a:p>
        </p:txBody>
      </p:sp>
      <p:sp>
        <p:nvSpPr>
          <p:cNvPr id="21" name="Shape 16"/>
          <p:cNvSpPr/>
          <p:nvPr/>
        </p:nvSpPr>
        <p:spPr>
          <a:xfrm>
            <a:off x="6922008" y="3182112"/>
            <a:ext cx="274320" cy="237744"/>
          </a:xfrm>
          <a:prstGeom prst="rightArrow">
            <a:avLst/>
          </a:prstGeom>
          <a:solidFill>
            <a:schemeClr val="accent2"/>
          </a:solidFill>
          <a:ln w="12700">
            <a:solidFill>
              <a:schemeClr val="accent2"/>
            </a:solidFill>
            <a:prstDash val="solid"/>
          </a:ln>
        </p:spPr>
      </p:sp>
      <p:sp>
        <p:nvSpPr>
          <p:cNvPr id="22" name="Shape 17"/>
          <p:cNvSpPr/>
          <p:nvPr/>
        </p:nvSpPr>
        <p:spPr>
          <a:xfrm>
            <a:off x="7269480" y="2953512"/>
            <a:ext cx="4373575" cy="694944"/>
          </a:xfrm>
          <a:prstGeom prst="roundRect">
            <a:avLst>
              <a:gd name="adj" fmla="val 15789"/>
            </a:avLst>
          </a:prstGeom>
          <a:solidFill>
            <a:srgbClr val="ECFDF5"/>
          </a:solidFill>
          <a:ln w="12700">
            <a:solidFill>
              <a:srgbClr val="A7F3D0"/>
            </a:solidFill>
            <a:prstDash val="solid"/>
          </a:ln>
        </p:spPr>
      </p:sp>
      <p:sp>
        <p:nvSpPr>
          <p:cNvPr id="23" name="Shape 18"/>
          <p:cNvSpPr/>
          <p:nvPr/>
        </p:nvSpPr>
        <p:spPr>
          <a:xfrm>
            <a:off x="7406640" y="3081528"/>
            <a:ext cx="402336" cy="402336"/>
          </a:xfrm>
          <a:prstGeom prst="ellipse">
            <a:avLst/>
          </a:prstGeom>
          <a:solidFill>
            <a:schemeClr val="accent6"/>
          </a:solidFill>
          <a:ln w="12700">
            <a:solidFill>
              <a:schemeClr val="accent6"/>
            </a:solidFill>
            <a:prstDash val="solid"/>
          </a:ln>
        </p:spPr>
      </p:sp>
      <p:pic>
        <p:nvPicPr>
          <p:cNvPr id="24" name="Image 3" descr="CircleCheck">    </p:cNvPr>
          <p:cNvPicPr>
            <a:picLocks noChangeAspect="1"/>
          </p:cNvPicPr>
          <p:nvPr/>
        </p:nvPicPr>
        <p:blipFill>
          <a:blip r:embed="rId4"/>
          <a:stretch>
            <a:fillRect/>
          </a:stretch>
        </p:blipFill>
        <p:spPr>
          <a:xfrm>
            <a:off x="7507224" y="3182112"/>
            <a:ext cx="201168" cy="201168"/>
          </a:xfrm>
          <a:prstGeom prst="rect">
            <a:avLst/>
          </a:prstGeom>
        </p:spPr>
      </p:pic>
      <p:sp>
        <p:nvSpPr>
          <p:cNvPr id="25" name="Text 19"/>
          <p:cNvSpPr txBox="1"/>
          <p:nvPr/>
        </p:nvSpPr>
        <p:spPr>
          <a:xfrm>
            <a:off x="7927848" y="2953512"/>
            <a:ext cx="3596335" cy="694944"/>
          </a:xfrm>
          <a:prstGeom prst="rect">
            <a:avLst/>
          </a:prstGeom>
          <a:noFill/>
          <a:ln/>
        </p:spPr>
        <p:txBody>
          <a:bodyPr wrap="square" lIns="0" tIns="0" rIns="0" bIns="0" rtlCol="0" anchor="ctr"/>
          <a:lstStyle/>
          <a:p>
            <a:pPr indent="0" marL="0">
              <a:buNone/>
            </a:pPr>
            <a:r>
              <a:rPr lang="en-US" sz="1400" dirty="0">
                <a:solidFill>
                  <a:srgbClr val="065F46"/>
                </a:solidFill>
              </a:rPr>
              <a:t>Capped thinking; a cut-off reply is an error, never parsed</a:t>
            </a:r>
            <a:endParaRPr lang="en-US" sz="1400" dirty="0"/>
          </a:p>
        </p:txBody>
      </p:sp>
      <p:sp>
        <p:nvSpPr>
          <p:cNvPr id="26" name="Shape 20"/>
          <p:cNvSpPr/>
          <p:nvPr/>
        </p:nvSpPr>
        <p:spPr>
          <a:xfrm>
            <a:off x="548640" y="3758184"/>
            <a:ext cx="6309360" cy="694944"/>
          </a:xfrm>
          <a:prstGeom prst="roundRect">
            <a:avLst>
              <a:gd name="adj" fmla="val 1578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7" name="Shape 21"/>
          <p:cNvSpPr/>
          <p:nvPr/>
        </p:nvSpPr>
        <p:spPr>
          <a:xfrm>
            <a:off x="685800" y="3858768"/>
            <a:ext cx="457200" cy="457200"/>
          </a:xfrm>
          <a:prstGeom prst="ellipse">
            <a:avLst/>
          </a:prstGeom>
          <a:solidFill>
            <a:schemeClr val="accent4"/>
          </a:solidFill>
          <a:ln w="12700">
            <a:solidFill>
              <a:schemeClr val="accent4"/>
            </a:solidFill>
            <a:prstDash val="solid"/>
          </a:ln>
        </p:spPr>
      </p:sp>
      <p:pic>
        <p:nvPicPr>
          <p:cNvPr id="28" name="Image 4" descr="Repeat">    </p:cNvPr>
          <p:cNvPicPr>
            <a:picLocks noChangeAspect="1"/>
          </p:cNvPicPr>
          <p:nvPr/>
        </p:nvPicPr>
        <p:blipFill>
          <a:blip r:embed="rId5"/>
          <a:stretch>
            <a:fillRect/>
          </a:stretch>
        </p:blipFill>
        <p:spPr>
          <a:xfrm>
            <a:off x="800100" y="3973068"/>
            <a:ext cx="228600" cy="228600"/>
          </a:xfrm>
          <a:prstGeom prst="rect">
            <a:avLst/>
          </a:prstGeom>
        </p:spPr>
      </p:pic>
      <p:sp>
        <p:nvSpPr>
          <p:cNvPr id="29" name="Text 22"/>
          <p:cNvSpPr txBox="1"/>
          <p:nvPr/>
        </p:nvSpPr>
        <p:spPr>
          <a:xfrm>
            <a:off x="1280160" y="3758184"/>
            <a:ext cx="5440680" cy="694944"/>
          </a:xfrm>
          <a:prstGeom prst="rect">
            <a:avLst/>
          </a:prstGeom>
          <a:noFill/>
          <a:ln/>
        </p:spPr>
        <p:txBody>
          <a:bodyPr wrap="square" lIns="0" tIns="0" rIns="0" bIns="0" rtlCol="0" anchor="ctr"/>
          <a:lstStyle/>
          <a:p>
            <a:pPr indent="0" marL="0">
              <a:buNone/>
            </a:pPr>
            <a:r>
              <a:rPr lang="en-US" sz="1400" dirty="0">
                <a:solidFill>
                  <a:schemeClr val="tx1"/>
                </a:solidFill>
              </a:rPr>
              <a:t>On empty forms the model looped, copying dotted blanks</a:t>
            </a:r>
            <a:endParaRPr lang="en-US" sz="1400" dirty="0"/>
          </a:p>
        </p:txBody>
      </p:sp>
      <p:sp>
        <p:nvSpPr>
          <p:cNvPr id="30" name="Shape 23"/>
          <p:cNvSpPr/>
          <p:nvPr/>
        </p:nvSpPr>
        <p:spPr>
          <a:xfrm>
            <a:off x="6922008" y="3986784"/>
            <a:ext cx="274320" cy="237744"/>
          </a:xfrm>
          <a:prstGeom prst="rightArrow">
            <a:avLst/>
          </a:prstGeom>
          <a:solidFill>
            <a:schemeClr val="accent2"/>
          </a:solidFill>
          <a:ln w="12700">
            <a:solidFill>
              <a:schemeClr val="accent2"/>
            </a:solidFill>
            <a:prstDash val="solid"/>
          </a:ln>
        </p:spPr>
      </p:sp>
      <p:sp>
        <p:nvSpPr>
          <p:cNvPr id="31" name="Shape 24"/>
          <p:cNvSpPr/>
          <p:nvPr/>
        </p:nvSpPr>
        <p:spPr>
          <a:xfrm>
            <a:off x="7269480" y="3758184"/>
            <a:ext cx="4373575" cy="694944"/>
          </a:xfrm>
          <a:prstGeom prst="roundRect">
            <a:avLst>
              <a:gd name="adj" fmla="val 15789"/>
            </a:avLst>
          </a:prstGeom>
          <a:solidFill>
            <a:srgbClr val="ECFDF5"/>
          </a:solidFill>
          <a:ln w="12700">
            <a:solidFill>
              <a:srgbClr val="A7F3D0"/>
            </a:solidFill>
            <a:prstDash val="solid"/>
          </a:ln>
        </p:spPr>
      </p:sp>
      <p:sp>
        <p:nvSpPr>
          <p:cNvPr id="32" name="Shape 25"/>
          <p:cNvSpPr/>
          <p:nvPr/>
        </p:nvSpPr>
        <p:spPr>
          <a:xfrm>
            <a:off x="7406640" y="3886200"/>
            <a:ext cx="402336" cy="402336"/>
          </a:xfrm>
          <a:prstGeom prst="ellipse">
            <a:avLst/>
          </a:prstGeom>
          <a:solidFill>
            <a:schemeClr val="accent6"/>
          </a:solidFill>
          <a:ln w="12700">
            <a:solidFill>
              <a:schemeClr val="accent6"/>
            </a:solidFill>
            <a:prstDash val="solid"/>
          </a:ln>
        </p:spPr>
      </p:sp>
      <p:pic>
        <p:nvPicPr>
          <p:cNvPr id="33" name="Image 5" descr="CircleCheck">    </p:cNvPr>
          <p:cNvPicPr>
            <a:picLocks noChangeAspect="1"/>
          </p:cNvPicPr>
          <p:nvPr/>
        </p:nvPicPr>
        <p:blipFill>
          <a:blip r:embed="rId6"/>
          <a:stretch>
            <a:fillRect/>
          </a:stretch>
        </p:blipFill>
        <p:spPr>
          <a:xfrm>
            <a:off x="7507224" y="3986784"/>
            <a:ext cx="201168" cy="201168"/>
          </a:xfrm>
          <a:prstGeom prst="rect">
            <a:avLst/>
          </a:prstGeom>
        </p:spPr>
      </p:pic>
      <p:sp>
        <p:nvSpPr>
          <p:cNvPr id="34" name="Text 26"/>
          <p:cNvSpPr txBox="1"/>
          <p:nvPr/>
        </p:nvSpPr>
        <p:spPr>
          <a:xfrm>
            <a:off x="7927848" y="3758184"/>
            <a:ext cx="3596335" cy="694944"/>
          </a:xfrm>
          <a:prstGeom prst="rect">
            <a:avLst/>
          </a:prstGeom>
          <a:noFill/>
          <a:ln/>
        </p:spPr>
        <p:txBody>
          <a:bodyPr wrap="square" lIns="0" tIns="0" rIns="0" bIns="0" rtlCol="0" anchor="ctr"/>
          <a:lstStyle/>
          <a:p>
            <a:pPr indent="0" marL="0">
              <a:buNone/>
            </a:pPr>
            <a:r>
              <a:rPr lang="en-US" sz="1400" dirty="0">
                <a:solidFill>
                  <a:srgbClr val="065F46"/>
                </a:solidFill>
              </a:rPr>
              <a:t>Prompt rule, one re-ask, and only valid replies are cached</a:t>
            </a:r>
            <a:endParaRPr lang="en-US" sz="1400" dirty="0"/>
          </a:p>
        </p:txBody>
      </p:sp>
      <p:sp>
        <p:nvSpPr>
          <p:cNvPr id="35" name="Shape 27"/>
          <p:cNvSpPr/>
          <p:nvPr/>
        </p:nvSpPr>
        <p:spPr>
          <a:xfrm>
            <a:off x="548640" y="4562856"/>
            <a:ext cx="6309360" cy="694944"/>
          </a:xfrm>
          <a:prstGeom prst="roundRect">
            <a:avLst>
              <a:gd name="adj" fmla="val 1578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36" name="Shape 28"/>
          <p:cNvSpPr/>
          <p:nvPr/>
        </p:nvSpPr>
        <p:spPr>
          <a:xfrm>
            <a:off x="685800" y="4663440"/>
            <a:ext cx="457200" cy="457200"/>
          </a:xfrm>
          <a:prstGeom prst="ellipse">
            <a:avLst/>
          </a:prstGeom>
          <a:solidFill>
            <a:schemeClr val="accent5"/>
          </a:solidFill>
          <a:ln w="12700">
            <a:solidFill>
              <a:schemeClr val="accent5"/>
            </a:solidFill>
            <a:prstDash val="solid"/>
          </a:ln>
        </p:spPr>
      </p:sp>
      <p:pic>
        <p:nvPicPr>
          <p:cNvPr id="37" name="Image 6" descr="Plug">    </p:cNvPr>
          <p:cNvPicPr>
            <a:picLocks noChangeAspect="1"/>
          </p:cNvPicPr>
          <p:nvPr/>
        </p:nvPicPr>
        <p:blipFill>
          <a:blip r:embed="rId7"/>
          <a:stretch>
            <a:fillRect/>
          </a:stretch>
        </p:blipFill>
        <p:spPr>
          <a:xfrm>
            <a:off x="800100" y="4777740"/>
            <a:ext cx="228600" cy="228600"/>
          </a:xfrm>
          <a:prstGeom prst="rect">
            <a:avLst/>
          </a:prstGeom>
        </p:spPr>
      </p:pic>
      <p:sp>
        <p:nvSpPr>
          <p:cNvPr id="38" name="Text 29"/>
          <p:cNvSpPr txBox="1"/>
          <p:nvPr/>
        </p:nvSpPr>
        <p:spPr>
          <a:xfrm>
            <a:off x="1280160" y="4562856"/>
            <a:ext cx="5440680" cy="694944"/>
          </a:xfrm>
          <a:prstGeom prst="rect">
            <a:avLst/>
          </a:prstGeom>
          <a:noFill/>
          <a:ln/>
        </p:spPr>
        <p:txBody>
          <a:bodyPr wrap="square" lIns="0" tIns="0" rIns="0" bIns="0" rtlCol="0" anchor="ctr"/>
          <a:lstStyle/>
          <a:p>
            <a:pPr indent="0" marL="0">
              <a:buNone/>
            </a:pPr>
            <a:r>
              <a:rPr lang="en-US" sz="1400" dirty="0">
                <a:solidFill>
                  <a:schemeClr val="tx1"/>
                </a:solidFill>
              </a:rPr>
              <a:t>Extractor and registry disagreed on the ULPIN format</a:t>
            </a:r>
            <a:endParaRPr lang="en-US" sz="1400" dirty="0"/>
          </a:p>
        </p:txBody>
      </p:sp>
      <p:sp>
        <p:nvSpPr>
          <p:cNvPr id="39" name="Shape 30"/>
          <p:cNvSpPr/>
          <p:nvPr/>
        </p:nvSpPr>
        <p:spPr>
          <a:xfrm>
            <a:off x="6922008" y="4791456"/>
            <a:ext cx="274320" cy="237744"/>
          </a:xfrm>
          <a:prstGeom prst="rightArrow">
            <a:avLst/>
          </a:prstGeom>
          <a:solidFill>
            <a:schemeClr val="accent2"/>
          </a:solidFill>
          <a:ln w="12700">
            <a:solidFill>
              <a:schemeClr val="accent2"/>
            </a:solidFill>
            <a:prstDash val="solid"/>
          </a:ln>
        </p:spPr>
      </p:sp>
      <p:sp>
        <p:nvSpPr>
          <p:cNvPr id="40" name="Shape 31"/>
          <p:cNvSpPr/>
          <p:nvPr/>
        </p:nvSpPr>
        <p:spPr>
          <a:xfrm>
            <a:off x="7269480" y="4562856"/>
            <a:ext cx="4373575" cy="694944"/>
          </a:xfrm>
          <a:prstGeom prst="roundRect">
            <a:avLst>
              <a:gd name="adj" fmla="val 15789"/>
            </a:avLst>
          </a:prstGeom>
          <a:solidFill>
            <a:srgbClr val="ECFDF5"/>
          </a:solidFill>
          <a:ln w="12700">
            <a:solidFill>
              <a:srgbClr val="A7F3D0"/>
            </a:solidFill>
            <a:prstDash val="solid"/>
          </a:ln>
        </p:spPr>
      </p:sp>
      <p:sp>
        <p:nvSpPr>
          <p:cNvPr id="41" name="Shape 32"/>
          <p:cNvSpPr/>
          <p:nvPr/>
        </p:nvSpPr>
        <p:spPr>
          <a:xfrm>
            <a:off x="7406640" y="4690872"/>
            <a:ext cx="402336" cy="402336"/>
          </a:xfrm>
          <a:prstGeom prst="ellipse">
            <a:avLst/>
          </a:prstGeom>
          <a:solidFill>
            <a:schemeClr val="accent6"/>
          </a:solidFill>
          <a:ln w="12700">
            <a:solidFill>
              <a:schemeClr val="accent6"/>
            </a:solidFill>
            <a:prstDash val="solid"/>
          </a:ln>
        </p:spPr>
      </p:sp>
      <p:pic>
        <p:nvPicPr>
          <p:cNvPr id="42" name="Image 7" descr="CircleCheck">    </p:cNvPr>
          <p:cNvPicPr>
            <a:picLocks noChangeAspect="1"/>
          </p:cNvPicPr>
          <p:nvPr/>
        </p:nvPicPr>
        <p:blipFill>
          <a:blip r:embed="rId8"/>
          <a:stretch>
            <a:fillRect/>
          </a:stretch>
        </p:blipFill>
        <p:spPr>
          <a:xfrm>
            <a:off x="7507224" y="4791456"/>
            <a:ext cx="201168" cy="201168"/>
          </a:xfrm>
          <a:prstGeom prst="rect">
            <a:avLst/>
          </a:prstGeom>
        </p:spPr>
      </p:pic>
      <p:sp>
        <p:nvSpPr>
          <p:cNvPr id="43" name="Text 33"/>
          <p:cNvSpPr txBox="1"/>
          <p:nvPr/>
        </p:nvSpPr>
        <p:spPr>
          <a:xfrm>
            <a:off x="7927848" y="4562856"/>
            <a:ext cx="3596335" cy="694944"/>
          </a:xfrm>
          <a:prstGeom prst="rect">
            <a:avLst/>
          </a:prstGeom>
          <a:noFill/>
          <a:ln/>
        </p:spPr>
        <p:txBody>
          <a:bodyPr wrap="square" lIns="0" tIns="0" rIns="0" bIns="0" rtlCol="0" anchor="ctr"/>
          <a:lstStyle/>
          <a:p>
            <a:pPr indent="0" marL="0">
              <a:buNone/>
            </a:pPr>
            <a:r>
              <a:rPr lang="en-US" sz="1400" dirty="0">
                <a:solidFill>
                  <a:srgbClr val="065F46"/>
                </a:solidFill>
              </a:rPr>
              <a:t>14-character IDs everywhere, short codes aliased</a:t>
            </a:r>
            <a:endParaRPr lang="en-US" sz="1400" dirty="0"/>
          </a:p>
        </p:txBody>
      </p:sp>
      <p:sp>
        <p:nvSpPr>
          <p:cNvPr id="44" name="Shape 34"/>
          <p:cNvSpPr/>
          <p:nvPr/>
        </p:nvSpPr>
        <p:spPr>
          <a:xfrm>
            <a:off x="548640" y="5367528"/>
            <a:ext cx="6309360" cy="694944"/>
          </a:xfrm>
          <a:prstGeom prst="roundRect">
            <a:avLst>
              <a:gd name="adj" fmla="val 15789"/>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5" name="Shape 35"/>
          <p:cNvSpPr/>
          <p:nvPr/>
        </p:nvSpPr>
        <p:spPr>
          <a:xfrm>
            <a:off x="685800" y="5468112"/>
            <a:ext cx="457200" cy="457200"/>
          </a:xfrm>
          <a:prstGeom prst="ellipse">
            <a:avLst/>
          </a:prstGeom>
          <a:solidFill>
            <a:schemeClr val="accent1"/>
          </a:solidFill>
          <a:ln w="12700">
            <a:solidFill>
              <a:schemeClr val="accent1"/>
            </a:solidFill>
            <a:prstDash val="solid"/>
          </a:ln>
        </p:spPr>
      </p:sp>
      <p:pic>
        <p:nvPicPr>
          <p:cNvPr id="46" name="Image 8" descr="Coins">    </p:cNvPr>
          <p:cNvPicPr>
            <a:picLocks noChangeAspect="1"/>
          </p:cNvPicPr>
          <p:nvPr/>
        </p:nvPicPr>
        <p:blipFill>
          <a:blip r:embed="rId9"/>
          <a:stretch>
            <a:fillRect/>
          </a:stretch>
        </p:blipFill>
        <p:spPr>
          <a:xfrm>
            <a:off x="800100" y="5582412"/>
            <a:ext cx="228600" cy="228600"/>
          </a:xfrm>
          <a:prstGeom prst="rect">
            <a:avLst/>
          </a:prstGeom>
        </p:spPr>
      </p:pic>
      <p:sp>
        <p:nvSpPr>
          <p:cNvPr id="47" name="Text 36"/>
          <p:cNvSpPr txBox="1"/>
          <p:nvPr/>
        </p:nvSpPr>
        <p:spPr>
          <a:xfrm>
            <a:off x="1280160" y="5367528"/>
            <a:ext cx="5440680" cy="694944"/>
          </a:xfrm>
          <a:prstGeom prst="rect">
            <a:avLst/>
          </a:prstGeom>
          <a:noFill/>
          <a:ln/>
        </p:spPr>
        <p:txBody>
          <a:bodyPr wrap="square" lIns="0" tIns="0" rIns="0" bIns="0" rtlCol="0" anchor="ctr"/>
          <a:lstStyle/>
          <a:p>
            <a:pPr indent="0" marL="0">
              <a:buNone/>
            </a:pPr>
            <a:r>
              <a:rPr lang="en-US" sz="1400" dirty="0">
                <a:solidFill>
                  <a:schemeClr val="tx1"/>
                </a:solidFill>
              </a:rPr>
              <a:t>Free API tier: 20 requests per day per model</a:t>
            </a:r>
            <a:endParaRPr lang="en-US" sz="1400" dirty="0"/>
          </a:p>
        </p:txBody>
      </p:sp>
      <p:sp>
        <p:nvSpPr>
          <p:cNvPr id="48" name="Shape 37"/>
          <p:cNvSpPr/>
          <p:nvPr/>
        </p:nvSpPr>
        <p:spPr>
          <a:xfrm>
            <a:off x="6922008" y="5596128"/>
            <a:ext cx="274320" cy="237744"/>
          </a:xfrm>
          <a:prstGeom prst="rightArrow">
            <a:avLst/>
          </a:prstGeom>
          <a:solidFill>
            <a:schemeClr val="accent2"/>
          </a:solidFill>
          <a:ln w="12700">
            <a:solidFill>
              <a:schemeClr val="accent2"/>
            </a:solidFill>
            <a:prstDash val="solid"/>
          </a:ln>
        </p:spPr>
      </p:sp>
      <p:sp>
        <p:nvSpPr>
          <p:cNvPr id="49" name="Shape 38"/>
          <p:cNvSpPr/>
          <p:nvPr/>
        </p:nvSpPr>
        <p:spPr>
          <a:xfrm>
            <a:off x="7269480" y="5367528"/>
            <a:ext cx="4373575" cy="694944"/>
          </a:xfrm>
          <a:prstGeom prst="roundRect">
            <a:avLst>
              <a:gd name="adj" fmla="val 15789"/>
            </a:avLst>
          </a:prstGeom>
          <a:solidFill>
            <a:srgbClr val="ECFDF5"/>
          </a:solidFill>
          <a:ln w="12700">
            <a:solidFill>
              <a:srgbClr val="A7F3D0"/>
            </a:solidFill>
            <a:prstDash val="solid"/>
          </a:ln>
        </p:spPr>
      </p:sp>
      <p:sp>
        <p:nvSpPr>
          <p:cNvPr id="50" name="Shape 39"/>
          <p:cNvSpPr/>
          <p:nvPr/>
        </p:nvSpPr>
        <p:spPr>
          <a:xfrm>
            <a:off x="7406640" y="5495544"/>
            <a:ext cx="402336" cy="402336"/>
          </a:xfrm>
          <a:prstGeom prst="ellipse">
            <a:avLst/>
          </a:prstGeom>
          <a:solidFill>
            <a:schemeClr val="accent6"/>
          </a:solidFill>
          <a:ln w="12700">
            <a:solidFill>
              <a:schemeClr val="accent6"/>
            </a:solidFill>
            <a:prstDash val="solid"/>
          </a:ln>
        </p:spPr>
      </p:sp>
      <p:pic>
        <p:nvPicPr>
          <p:cNvPr id="51" name="Image 9" descr="CircleCheck">    </p:cNvPr>
          <p:cNvPicPr>
            <a:picLocks noChangeAspect="1"/>
          </p:cNvPicPr>
          <p:nvPr/>
        </p:nvPicPr>
        <p:blipFill>
          <a:blip r:embed="rId10"/>
          <a:stretch>
            <a:fillRect/>
          </a:stretch>
        </p:blipFill>
        <p:spPr>
          <a:xfrm>
            <a:off x="7507224" y="5596128"/>
            <a:ext cx="201168" cy="201168"/>
          </a:xfrm>
          <a:prstGeom prst="rect">
            <a:avLst/>
          </a:prstGeom>
        </p:spPr>
      </p:pic>
      <p:sp>
        <p:nvSpPr>
          <p:cNvPr id="52" name="Text 40"/>
          <p:cNvSpPr txBox="1"/>
          <p:nvPr/>
        </p:nvSpPr>
        <p:spPr>
          <a:xfrm>
            <a:off x="7927848" y="5367528"/>
            <a:ext cx="3596335" cy="694944"/>
          </a:xfrm>
          <a:prstGeom prst="rect">
            <a:avLst/>
          </a:prstGeom>
          <a:noFill/>
          <a:ln/>
        </p:spPr>
        <p:txBody>
          <a:bodyPr wrap="square" lIns="0" tIns="0" rIns="0" bIns="0" rtlCol="0" anchor="ctr"/>
          <a:lstStyle/>
          <a:p>
            <a:pPr indent="0" marL="0">
              <a:buNone/>
            </a:pPr>
            <a:r>
              <a:rPr lang="en-US" sz="1400" dirty="0">
                <a:solidFill>
                  <a:srgbClr val="065F46"/>
                </a:solidFill>
              </a:rPr>
              <a:t>Raw-reply cache and offline sample data for the demo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Against the evaluation criteria</a:t>
            </a:r>
            <a:endParaRPr lang="en-US" sz="3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926080"/>
                <a:gridCol w="8168335"/>
              </a:tblGrid>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Creativity and uniqueness</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 three-state reader on top of fixed rules, and a Class A / Class B split so officers are never pushed to refuse on title grounds</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Innovation</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“Needs review” instead of guessing; quotes checked against an independent reader; a signed, tamper-evident decision record</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Real-world usefulness</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 citizen pre-flight and an officer console, with an ask-your-seller list; built to sit on top of land-record systems, not replace them</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Effective use of Cline</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Cline in VS Code made reviewable changes with tests and commits (see the demo video and the commit history)</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Usability and execution</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Website-style app, plain-language wording, three clear flows, runs offline for the demo</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Technical implementation</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Python pipeline, 75 tests, masking before any model call, Ed25519 plus hash chain, swappable model provider</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chemeClr val="bg1"/>
                    </a:solidFill>
                  </a:tcPr>
                </a:tc>
              </a:tr>
              <a:tr h="603504">
                <a:tc>
                  <a:txBody>
                    <a:bodyPr/>
                    <a:lstStyle/>
                    <a:p>
                      <a:pPr indent="0" marL="0">
                        <a:buNone/>
                      </a:pPr>
                      <a:r>
                        <a:rPr lang="en-US" sz="1400" b="1" dirty="0">
                          <a:solidFill>
                            <a:schemeClr val="tx2"/>
                          </a:solidFill>
                          <a:latin typeface="Calibri" pitchFamily="34" charset="0"/>
                          <a:ea typeface="Calibri" pitchFamily="34" charset="-122"/>
                          <a:cs typeface="Calibri" pitchFamily="34" charset="-120"/>
                        </a:rPr>
                        <a:t>Bonus: Cline inside the product</a:t>
                      </a:r>
                      <a:endParaRPr lang="en-US" sz="1400" dirty="0">
                        <a:latin typeface="Calibri" charset="0"/>
                        <a:ea typeface="Calibri" charset="0"/>
                        <a:cs typeface="Calibri" charset="0"/>
                      </a:endParaRPr>
                    </a:p>
                  </a:txBody>
                  <a:tcPr marL="777240" marR="91440"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 Cline SDK review agent that can only propose, with every proposal re-checked on the page</a:t>
                      </a:r>
                      <a:endParaRPr lang="en-US" sz="1300" dirty="0">
                        <a:latin typeface="Calibri" charset="0"/>
                        <a:ea typeface="Calibri" charset="0"/>
                        <a:cs typeface="Calibri" charset="0"/>
                      </a:endParaRPr>
                    </a:p>
                  </a:txBody>
                  <a:tcPr marL="109728" marR="109728" marT="36576" marB="36576" anchor="ctr">
                    <a:lnL w="12700" cap="flat" cmpd="sng" algn="ctr">
                      <a:solidFill>
                        <a:srgbClr val="E4ECE8"/>
                      </a:solidFill>
                      <a:prstDash val="solid"/>
                      <a:round/>
                      <a:headEnd type="none" w="med" len="med"/>
                      <a:tailEnd type="none" w="med" len="med"/>
                    </a:lnL>
                    <a:lnR w="12700" cap="flat" cmpd="sng" algn="ctr">
                      <a:solidFill>
                        <a:srgbClr val="E4ECE8"/>
                      </a:solidFill>
                      <a:prstDash val="solid"/>
                      <a:round/>
                      <a:headEnd type="none" w="med" len="med"/>
                      <a:tailEnd type="none" w="med" len="med"/>
                    </a:lnR>
                    <a:lnT w="12700" cap="flat" cmpd="sng" algn="ctr">
                      <a:solidFill>
                        <a:srgbClr val="E4ECE8"/>
                      </a:solidFill>
                      <a:prstDash val="solid"/>
                      <a:round/>
                      <a:headEnd type="none" w="med" len="med"/>
                      <a:tailEnd type="none" w="med" len="med"/>
                    </a:lnT>
                    <a:lnB w="12700" cap="flat" cmpd="sng" algn="ctr">
                      <a:solidFill>
                        <a:srgbClr val="E4ECE8"/>
                      </a:solidFill>
                      <a:prstDash val="solid"/>
                      <a:round/>
                      <a:headEnd type="none" w="med" len="med"/>
                      <a:tailEnd type="none" w="med" len="med"/>
                    </a:lnB>
                    <a:solidFill>
                      <a:srgbClr val="F0FDFA"/>
                    </a:solidFill>
                  </a:tcPr>
                </a:tc>
              </a:tr>
            </a:tbl>
          </a:graphicData>
        </a:graphic>
      </p:graphicFrame>
      <p:sp>
        <p:nvSpPr>
          <p:cNvPr id="4" name="Shape 1"/>
          <p:cNvSpPr/>
          <p:nvPr/>
        </p:nvSpPr>
        <p:spPr>
          <a:xfrm>
            <a:off x="676656" y="1572768"/>
            <a:ext cx="475488" cy="475488"/>
          </a:xfrm>
          <a:prstGeom prst="ellipse">
            <a:avLst/>
          </a:prstGeom>
          <a:solidFill>
            <a:schemeClr val="accent1"/>
          </a:solidFill>
          <a:ln w="12700">
            <a:solidFill>
              <a:schemeClr val="accent1"/>
            </a:solidFill>
            <a:prstDash val="solid"/>
          </a:ln>
        </p:spPr>
      </p:sp>
      <p:pic>
        <p:nvPicPr>
          <p:cNvPr id="5" name="Image 0" descr="Lightbulb">    </p:cNvPr>
          <p:cNvPicPr>
            <a:picLocks noChangeAspect="1"/>
          </p:cNvPicPr>
          <p:nvPr/>
        </p:nvPicPr>
        <p:blipFill>
          <a:blip r:embed="rId1"/>
          <a:stretch>
            <a:fillRect/>
          </a:stretch>
        </p:blipFill>
        <p:spPr>
          <a:xfrm>
            <a:off x="795528" y="1691640"/>
            <a:ext cx="237744" cy="237744"/>
          </a:xfrm>
          <a:prstGeom prst="rect">
            <a:avLst/>
          </a:prstGeom>
        </p:spPr>
      </p:pic>
      <p:sp>
        <p:nvSpPr>
          <p:cNvPr id="6" name="Shape 2"/>
          <p:cNvSpPr/>
          <p:nvPr/>
        </p:nvSpPr>
        <p:spPr>
          <a:xfrm>
            <a:off x="676656" y="2176272"/>
            <a:ext cx="475488" cy="475488"/>
          </a:xfrm>
          <a:prstGeom prst="ellipse">
            <a:avLst/>
          </a:prstGeom>
          <a:solidFill>
            <a:schemeClr val="accent1"/>
          </a:solidFill>
          <a:ln w="12700">
            <a:solidFill>
              <a:schemeClr val="accent1"/>
            </a:solidFill>
            <a:prstDash val="solid"/>
          </a:ln>
        </p:spPr>
      </p:sp>
      <p:pic>
        <p:nvPicPr>
          <p:cNvPr id="7" name="Image 1" descr="WandMagicSparkles">    </p:cNvPr>
          <p:cNvPicPr>
            <a:picLocks noChangeAspect="1"/>
          </p:cNvPicPr>
          <p:nvPr/>
        </p:nvPicPr>
        <p:blipFill>
          <a:blip r:embed="rId2"/>
          <a:stretch>
            <a:fillRect/>
          </a:stretch>
        </p:blipFill>
        <p:spPr>
          <a:xfrm>
            <a:off x="795528" y="2295144"/>
            <a:ext cx="237744" cy="237744"/>
          </a:xfrm>
          <a:prstGeom prst="rect">
            <a:avLst/>
          </a:prstGeom>
        </p:spPr>
      </p:pic>
      <p:sp>
        <p:nvSpPr>
          <p:cNvPr id="8" name="Shape 3"/>
          <p:cNvSpPr/>
          <p:nvPr/>
        </p:nvSpPr>
        <p:spPr>
          <a:xfrm>
            <a:off x="676656" y="2779776"/>
            <a:ext cx="475488" cy="475488"/>
          </a:xfrm>
          <a:prstGeom prst="ellipse">
            <a:avLst/>
          </a:prstGeom>
          <a:solidFill>
            <a:schemeClr val="accent1"/>
          </a:solidFill>
          <a:ln w="12700">
            <a:solidFill>
              <a:schemeClr val="accent1"/>
            </a:solidFill>
            <a:prstDash val="solid"/>
          </a:ln>
        </p:spPr>
      </p:sp>
      <p:pic>
        <p:nvPicPr>
          <p:cNvPr id="9" name="Image 2" descr="HandshakeAngle">    </p:cNvPr>
          <p:cNvPicPr>
            <a:picLocks noChangeAspect="1"/>
          </p:cNvPicPr>
          <p:nvPr/>
        </p:nvPicPr>
        <p:blipFill>
          <a:blip r:embed="rId3"/>
          <a:stretch>
            <a:fillRect/>
          </a:stretch>
        </p:blipFill>
        <p:spPr>
          <a:xfrm>
            <a:off x="795528" y="2898648"/>
            <a:ext cx="237744" cy="237744"/>
          </a:xfrm>
          <a:prstGeom prst="rect">
            <a:avLst/>
          </a:prstGeom>
        </p:spPr>
      </p:pic>
      <p:sp>
        <p:nvSpPr>
          <p:cNvPr id="10" name="Shape 4"/>
          <p:cNvSpPr/>
          <p:nvPr/>
        </p:nvSpPr>
        <p:spPr>
          <a:xfrm>
            <a:off x="676656" y="3383280"/>
            <a:ext cx="475488" cy="475488"/>
          </a:xfrm>
          <a:prstGeom prst="ellipse">
            <a:avLst/>
          </a:prstGeom>
          <a:solidFill>
            <a:schemeClr val="accent1"/>
          </a:solidFill>
          <a:ln w="12700">
            <a:solidFill>
              <a:schemeClr val="accent1"/>
            </a:solidFill>
            <a:prstDash val="solid"/>
          </a:ln>
        </p:spPr>
      </p:sp>
      <p:pic>
        <p:nvPicPr>
          <p:cNvPr id="11" name="Image 3" descr="Code">    </p:cNvPr>
          <p:cNvPicPr>
            <a:picLocks noChangeAspect="1"/>
          </p:cNvPicPr>
          <p:nvPr/>
        </p:nvPicPr>
        <p:blipFill>
          <a:blip r:embed="rId4"/>
          <a:stretch>
            <a:fillRect/>
          </a:stretch>
        </p:blipFill>
        <p:spPr>
          <a:xfrm>
            <a:off x="795528" y="3502152"/>
            <a:ext cx="237744" cy="237744"/>
          </a:xfrm>
          <a:prstGeom prst="rect">
            <a:avLst/>
          </a:prstGeom>
        </p:spPr>
      </p:pic>
      <p:sp>
        <p:nvSpPr>
          <p:cNvPr id="12" name="Shape 5"/>
          <p:cNvSpPr/>
          <p:nvPr/>
        </p:nvSpPr>
        <p:spPr>
          <a:xfrm>
            <a:off x="676656" y="3986784"/>
            <a:ext cx="475488" cy="475488"/>
          </a:xfrm>
          <a:prstGeom prst="ellipse">
            <a:avLst/>
          </a:prstGeom>
          <a:solidFill>
            <a:schemeClr val="accent1"/>
          </a:solidFill>
          <a:ln w="12700">
            <a:solidFill>
              <a:schemeClr val="accent1"/>
            </a:solidFill>
            <a:prstDash val="solid"/>
          </a:ln>
        </p:spPr>
      </p:sp>
      <p:pic>
        <p:nvPicPr>
          <p:cNvPr id="13" name="Image 4" descr="MobileScreen">    </p:cNvPr>
          <p:cNvPicPr>
            <a:picLocks noChangeAspect="1"/>
          </p:cNvPicPr>
          <p:nvPr/>
        </p:nvPicPr>
        <p:blipFill>
          <a:blip r:embed="rId5"/>
          <a:stretch>
            <a:fillRect/>
          </a:stretch>
        </p:blipFill>
        <p:spPr>
          <a:xfrm>
            <a:off x="795528" y="4105656"/>
            <a:ext cx="237744" cy="237744"/>
          </a:xfrm>
          <a:prstGeom prst="rect">
            <a:avLst/>
          </a:prstGeom>
        </p:spPr>
      </p:pic>
      <p:sp>
        <p:nvSpPr>
          <p:cNvPr id="14" name="Shape 6"/>
          <p:cNvSpPr/>
          <p:nvPr/>
        </p:nvSpPr>
        <p:spPr>
          <a:xfrm>
            <a:off x="676656" y="4590288"/>
            <a:ext cx="475488" cy="475488"/>
          </a:xfrm>
          <a:prstGeom prst="ellipse">
            <a:avLst/>
          </a:prstGeom>
          <a:solidFill>
            <a:schemeClr val="accent1"/>
          </a:solidFill>
          <a:ln w="12700">
            <a:solidFill>
              <a:schemeClr val="accent1"/>
            </a:solidFill>
            <a:prstDash val="solid"/>
          </a:ln>
        </p:spPr>
      </p:sp>
      <p:pic>
        <p:nvPicPr>
          <p:cNvPr id="15" name="Image 5" descr="Gears">    </p:cNvPr>
          <p:cNvPicPr>
            <a:picLocks noChangeAspect="1"/>
          </p:cNvPicPr>
          <p:nvPr/>
        </p:nvPicPr>
        <p:blipFill>
          <a:blip r:embed="rId6"/>
          <a:stretch>
            <a:fillRect/>
          </a:stretch>
        </p:blipFill>
        <p:spPr>
          <a:xfrm>
            <a:off x="795528" y="4709160"/>
            <a:ext cx="237744" cy="237744"/>
          </a:xfrm>
          <a:prstGeom prst="rect">
            <a:avLst/>
          </a:prstGeom>
        </p:spPr>
      </p:pic>
      <p:sp>
        <p:nvSpPr>
          <p:cNvPr id="16" name="Shape 7"/>
          <p:cNvSpPr/>
          <p:nvPr/>
        </p:nvSpPr>
        <p:spPr>
          <a:xfrm>
            <a:off x="676656" y="5193792"/>
            <a:ext cx="475488" cy="475488"/>
          </a:xfrm>
          <a:prstGeom prst="ellipse">
            <a:avLst/>
          </a:prstGeom>
          <a:solidFill>
            <a:schemeClr val="accent2"/>
          </a:solidFill>
          <a:ln w="12700">
            <a:solidFill>
              <a:schemeClr val="accent2"/>
            </a:solidFill>
            <a:prstDash val="solid"/>
          </a:ln>
        </p:spPr>
      </p:sp>
      <p:pic>
        <p:nvPicPr>
          <p:cNvPr id="17" name="Image 6" descr="Star">    </p:cNvPr>
          <p:cNvPicPr>
            <a:picLocks noChangeAspect="1"/>
          </p:cNvPicPr>
          <p:nvPr/>
        </p:nvPicPr>
        <p:blipFill>
          <a:blip r:embed="rId7"/>
          <a:stretch>
            <a:fillRect/>
          </a:stretch>
        </p:blipFill>
        <p:spPr>
          <a:xfrm>
            <a:off x="795528" y="5312664"/>
            <a:ext cx="237744" cy="2377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600" b="1" dirty="0">
                <a:solidFill>
                  <a:schemeClr val="tx2"/>
                </a:solidFill>
              </a:rPr>
              <a:t>Limits and what comes next</a:t>
            </a:r>
            <a:endParaRPr lang="en-US" sz="3600" dirty="0"/>
          </a:p>
        </p:txBody>
      </p:sp>
      <p:sp>
        <p:nvSpPr>
          <p:cNvPr id="3" name="Shape 1"/>
          <p:cNvSpPr/>
          <p:nvPr/>
        </p:nvSpPr>
        <p:spPr>
          <a:xfrm>
            <a:off x="548640" y="1508760"/>
            <a:ext cx="5486400"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27632"/>
            <a:ext cx="4937760" cy="457200"/>
          </a:xfrm>
          <a:prstGeom prst="rect">
            <a:avLst/>
          </a:prstGeom>
          <a:noFill/>
          <a:ln/>
        </p:spPr>
        <p:txBody>
          <a:bodyPr wrap="square" lIns="0" tIns="0" rIns="0" bIns="0" rtlCol="0" anchor="t"/>
          <a:lstStyle/>
          <a:p>
            <a:pPr indent="0" marL="0">
              <a:buNone/>
            </a:pPr>
            <a:r>
              <a:rPr lang="en-US" sz="2000" b="1" dirty="0">
                <a:solidFill>
                  <a:schemeClr val="accent4"/>
                </a:solidFill>
              </a:rPr>
              <a:t>What we have and have not tested</a:t>
            </a:r>
            <a:endParaRPr lang="en-US" sz="2000" dirty="0"/>
          </a:p>
        </p:txBody>
      </p:sp>
      <p:sp>
        <p:nvSpPr>
          <p:cNvPr id="5" name="Shape 3"/>
          <p:cNvSpPr/>
          <p:nvPr/>
        </p:nvSpPr>
        <p:spPr>
          <a:xfrm>
            <a:off x="777240" y="2194560"/>
            <a:ext cx="5029200" cy="457200"/>
          </a:xfrm>
          <a:prstGeom prst="roundRect">
            <a:avLst>
              <a:gd name="adj" fmla="val 16000"/>
            </a:avLst>
          </a:prstGeom>
          <a:solidFill>
            <a:srgbClr val="F0FDFA"/>
          </a:solidFill>
          <a:ln w="9525">
            <a:solidFill>
              <a:srgbClr val="E4ECE8"/>
            </a:solidFill>
            <a:prstDash val="solid"/>
          </a:ln>
        </p:spPr>
      </p:sp>
      <p:sp>
        <p:nvSpPr>
          <p:cNvPr id="6" name="Text 4"/>
          <p:cNvSpPr txBox="1"/>
          <p:nvPr/>
        </p:nvSpPr>
        <p:spPr>
          <a:xfrm>
            <a:off x="914400" y="2194560"/>
            <a:ext cx="3429000" cy="457200"/>
          </a:xfrm>
          <a:prstGeom prst="rect">
            <a:avLst/>
          </a:prstGeom>
          <a:noFill/>
          <a:ln/>
        </p:spPr>
        <p:txBody>
          <a:bodyPr wrap="square" lIns="0" tIns="0" rIns="0" bIns="0" rtlCol="0" anchor="ctr"/>
          <a:lstStyle/>
          <a:p>
            <a:pPr indent="0" marL="0">
              <a:buNone/>
            </a:pPr>
            <a:r>
              <a:rPr lang="en-US" sz="1300" dirty="0">
                <a:solidFill>
                  <a:schemeClr val="tx1"/>
                </a:solidFill>
              </a:rPr>
              <a:t>English, typed deeds (digital and scanned)</a:t>
            </a:r>
            <a:endParaRPr lang="en-US" sz="1300" dirty="0"/>
          </a:p>
        </p:txBody>
      </p:sp>
      <p:sp>
        <p:nvSpPr>
          <p:cNvPr id="7" name="Text 5"/>
          <p:cNvSpPr txBox="1"/>
          <p:nvPr/>
        </p:nvSpPr>
        <p:spPr>
          <a:xfrm>
            <a:off x="4480560" y="2249424"/>
            <a:ext cx="1234440" cy="347472"/>
          </a:xfrm>
          <a:prstGeom prst="roundRect">
            <a:avLst>
              <a:gd name="adj" fmla="val 26316"/>
            </a:avLst>
          </a:prstGeom>
          <a:solidFill>
            <a:schemeClr val="accent6"/>
          </a:solidFill>
          <a:ln/>
        </p:spPr>
        <p:txBody>
          <a:bodyPr wrap="square" lIns="0" tIns="0" rIns="0" bIns="0" rtlCol="0" anchor="ctr"/>
          <a:lstStyle/>
          <a:p>
            <a:pPr algn="ctr" indent="0" marL="0">
              <a:buNone/>
            </a:pPr>
            <a:r>
              <a:rPr lang="en-US" sz="1300" b="1" dirty="0">
                <a:solidFill>
                  <a:schemeClr val="bg1"/>
                </a:solidFill>
              </a:rPr>
              <a:t>Tested</a:t>
            </a:r>
            <a:endParaRPr lang="en-US" sz="1300" dirty="0"/>
          </a:p>
        </p:txBody>
      </p:sp>
      <p:sp>
        <p:nvSpPr>
          <p:cNvPr id="8" name="Shape 6"/>
          <p:cNvSpPr/>
          <p:nvPr/>
        </p:nvSpPr>
        <p:spPr>
          <a:xfrm>
            <a:off x="777240" y="2724912"/>
            <a:ext cx="5029200" cy="457200"/>
          </a:xfrm>
          <a:prstGeom prst="roundRect">
            <a:avLst>
              <a:gd name="adj" fmla="val 16000"/>
            </a:avLst>
          </a:prstGeom>
          <a:solidFill>
            <a:schemeClr val="bg1"/>
          </a:solidFill>
          <a:ln w="9525">
            <a:solidFill>
              <a:srgbClr val="E4ECE8"/>
            </a:solidFill>
            <a:prstDash val="solid"/>
          </a:ln>
        </p:spPr>
      </p:sp>
      <p:sp>
        <p:nvSpPr>
          <p:cNvPr id="9" name="Text 7"/>
          <p:cNvSpPr txBox="1"/>
          <p:nvPr/>
        </p:nvSpPr>
        <p:spPr>
          <a:xfrm>
            <a:off x="914400" y="2724912"/>
            <a:ext cx="3429000" cy="457200"/>
          </a:xfrm>
          <a:prstGeom prst="rect">
            <a:avLst/>
          </a:prstGeom>
          <a:noFill/>
          <a:ln/>
        </p:spPr>
        <p:txBody>
          <a:bodyPr wrap="square" lIns="0" tIns="0" rIns="0" bIns="0" rtlCol="0" anchor="ctr"/>
          <a:lstStyle/>
          <a:p>
            <a:pPr indent="0" marL="0">
              <a:buNone/>
            </a:pPr>
            <a:r>
              <a:rPr lang="en-US" sz="1300" dirty="0">
                <a:solidFill>
                  <a:schemeClr val="tx1"/>
                </a:solidFill>
              </a:rPr>
              <a:t>Hindi, typed deeds (digital and scanned)</a:t>
            </a:r>
            <a:endParaRPr lang="en-US" sz="1300" dirty="0"/>
          </a:p>
        </p:txBody>
      </p:sp>
      <p:sp>
        <p:nvSpPr>
          <p:cNvPr id="10" name="Text 8"/>
          <p:cNvSpPr txBox="1"/>
          <p:nvPr/>
        </p:nvSpPr>
        <p:spPr>
          <a:xfrm>
            <a:off x="4480560" y="2779776"/>
            <a:ext cx="1234440" cy="347472"/>
          </a:xfrm>
          <a:prstGeom prst="roundRect">
            <a:avLst>
              <a:gd name="adj" fmla="val 26316"/>
            </a:avLst>
          </a:prstGeom>
          <a:solidFill>
            <a:schemeClr val="accent6"/>
          </a:solidFill>
          <a:ln/>
        </p:spPr>
        <p:txBody>
          <a:bodyPr wrap="square" lIns="0" tIns="0" rIns="0" bIns="0" rtlCol="0" anchor="ctr"/>
          <a:lstStyle/>
          <a:p>
            <a:pPr algn="ctr" indent="0" marL="0">
              <a:buNone/>
            </a:pPr>
            <a:r>
              <a:rPr lang="en-US" sz="1300" b="1" dirty="0">
                <a:solidFill>
                  <a:schemeClr val="bg1"/>
                </a:solidFill>
              </a:rPr>
              <a:t>Tested</a:t>
            </a:r>
            <a:endParaRPr lang="en-US" sz="1300" dirty="0"/>
          </a:p>
        </p:txBody>
      </p:sp>
      <p:sp>
        <p:nvSpPr>
          <p:cNvPr id="11" name="Shape 9"/>
          <p:cNvSpPr/>
          <p:nvPr/>
        </p:nvSpPr>
        <p:spPr>
          <a:xfrm>
            <a:off x="777240" y="3255264"/>
            <a:ext cx="5029200" cy="457200"/>
          </a:xfrm>
          <a:prstGeom prst="roundRect">
            <a:avLst>
              <a:gd name="adj" fmla="val 16000"/>
            </a:avLst>
          </a:prstGeom>
          <a:solidFill>
            <a:srgbClr val="F0FDFA"/>
          </a:solidFill>
          <a:ln w="9525">
            <a:solidFill>
              <a:srgbClr val="E4ECE8"/>
            </a:solidFill>
            <a:prstDash val="solid"/>
          </a:ln>
        </p:spPr>
      </p:sp>
      <p:sp>
        <p:nvSpPr>
          <p:cNvPr id="12" name="Text 10"/>
          <p:cNvSpPr txBox="1"/>
          <p:nvPr/>
        </p:nvSpPr>
        <p:spPr>
          <a:xfrm>
            <a:off x="914400" y="3255264"/>
            <a:ext cx="3429000" cy="457200"/>
          </a:xfrm>
          <a:prstGeom prst="rect">
            <a:avLst/>
          </a:prstGeom>
          <a:noFill/>
          <a:ln/>
        </p:spPr>
        <p:txBody>
          <a:bodyPr wrap="square" lIns="0" tIns="0" rIns="0" bIns="0" rtlCol="0" anchor="ctr"/>
          <a:lstStyle/>
          <a:p>
            <a:pPr indent="0" marL="0">
              <a:buNone/>
            </a:pPr>
            <a:r>
              <a:rPr lang="en-US" sz="1300" dirty="0">
                <a:solidFill>
                  <a:schemeClr val="tx1"/>
                </a:solidFill>
              </a:rPr>
              <a:t>Handwriting, using a handwriting font</a:t>
            </a:r>
            <a:endParaRPr lang="en-US" sz="1300" dirty="0"/>
          </a:p>
        </p:txBody>
      </p:sp>
      <p:sp>
        <p:nvSpPr>
          <p:cNvPr id="13" name="Text 11"/>
          <p:cNvSpPr txBox="1"/>
          <p:nvPr/>
        </p:nvSpPr>
        <p:spPr>
          <a:xfrm>
            <a:off x="4480560" y="3310128"/>
            <a:ext cx="1234440" cy="347472"/>
          </a:xfrm>
          <a:prstGeom prst="roundRect">
            <a:avLst>
              <a:gd name="adj" fmla="val 26316"/>
            </a:avLst>
          </a:prstGeom>
          <a:solidFill>
            <a:schemeClr val="accent4"/>
          </a:solidFill>
          <a:ln/>
        </p:spPr>
        <p:txBody>
          <a:bodyPr wrap="square" lIns="0" tIns="0" rIns="0" bIns="0" rtlCol="0" anchor="ctr"/>
          <a:lstStyle/>
          <a:p>
            <a:pPr algn="ctr" indent="0" marL="0">
              <a:buNone/>
            </a:pPr>
            <a:r>
              <a:rPr lang="en-US" sz="1300" b="1" dirty="0">
                <a:solidFill>
                  <a:schemeClr val="bg1"/>
                </a:solidFill>
              </a:rPr>
              <a:t>Partly</a:t>
            </a:r>
            <a:endParaRPr lang="en-US" sz="1300" dirty="0"/>
          </a:p>
        </p:txBody>
      </p:sp>
      <p:sp>
        <p:nvSpPr>
          <p:cNvPr id="14" name="Shape 12"/>
          <p:cNvSpPr/>
          <p:nvPr/>
        </p:nvSpPr>
        <p:spPr>
          <a:xfrm>
            <a:off x="777240" y="3785616"/>
            <a:ext cx="5029200" cy="457200"/>
          </a:xfrm>
          <a:prstGeom prst="roundRect">
            <a:avLst>
              <a:gd name="adj" fmla="val 16000"/>
            </a:avLst>
          </a:prstGeom>
          <a:solidFill>
            <a:schemeClr val="bg1"/>
          </a:solidFill>
          <a:ln w="9525">
            <a:solidFill>
              <a:srgbClr val="E4ECE8"/>
            </a:solidFill>
            <a:prstDash val="solid"/>
          </a:ln>
        </p:spPr>
      </p:sp>
      <p:sp>
        <p:nvSpPr>
          <p:cNvPr id="15" name="Text 13"/>
          <p:cNvSpPr txBox="1"/>
          <p:nvPr/>
        </p:nvSpPr>
        <p:spPr>
          <a:xfrm>
            <a:off x="914400" y="3785616"/>
            <a:ext cx="3429000" cy="457200"/>
          </a:xfrm>
          <a:prstGeom prst="rect">
            <a:avLst/>
          </a:prstGeom>
          <a:noFill/>
          <a:ln/>
        </p:spPr>
        <p:txBody>
          <a:bodyPr wrap="square" lIns="0" tIns="0" rIns="0" bIns="0" rtlCol="0" anchor="ctr"/>
          <a:lstStyle/>
          <a:p>
            <a:pPr indent="0" marL="0">
              <a:buNone/>
            </a:pPr>
            <a:r>
              <a:rPr lang="en-US" sz="1300" dirty="0">
                <a:solidFill>
                  <a:schemeClr val="tx1"/>
                </a:solidFill>
              </a:rPr>
              <a:t>Real handwritten deeds</a:t>
            </a:r>
            <a:endParaRPr lang="en-US" sz="1300" dirty="0"/>
          </a:p>
        </p:txBody>
      </p:sp>
      <p:sp>
        <p:nvSpPr>
          <p:cNvPr id="16" name="Text 14"/>
          <p:cNvSpPr txBox="1"/>
          <p:nvPr/>
        </p:nvSpPr>
        <p:spPr>
          <a:xfrm>
            <a:off x="4480560" y="3840480"/>
            <a:ext cx="1234440" cy="347472"/>
          </a:xfrm>
          <a:prstGeom prst="roundRect">
            <a:avLst>
              <a:gd name="adj" fmla="val 26316"/>
            </a:avLst>
          </a:prstGeom>
          <a:solidFill>
            <a:schemeClr val="accent3"/>
          </a:solidFill>
          <a:ln/>
        </p:spPr>
        <p:txBody>
          <a:bodyPr wrap="square" lIns="0" tIns="0" rIns="0" bIns="0" rtlCol="0" anchor="ctr"/>
          <a:lstStyle/>
          <a:p>
            <a:pPr algn="ctr" indent="0" marL="0">
              <a:buNone/>
            </a:pPr>
            <a:r>
              <a:rPr lang="en-US" sz="1300" b="1" dirty="0">
                <a:solidFill>
                  <a:schemeClr val="bg1"/>
                </a:solidFill>
              </a:rPr>
              <a:t>Not tested</a:t>
            </a:r>
            <a:endParaRPr lang="en-US" sz="1300" dirty="0"/>
          </a:p>
        </p:txBody>
      </p:sp>
      <p:sp>
        <p:nvSpPr>
          <p:cNvPr id="17" name="Shape 15"/>
          <p:cNvSpPr/>
          <p:nvPr/>
        </p:nvSpPr>
        <p:spPr>
          <a:xfrm>
            <a:off x="777240" y="4315968"/>
            <a:ext cx="5029200" cy="457200"/>
          </a:xfrm>
          <a:prstGeom prst="roundRect">
            <a:avLst>
              <a:gd name="adj" fmla="val 16000"/>
            </a:avLst>
          </a:prstGeom>
          <a:solidFill>
            <a:srgbClr val="F0FDFA"/>
          </a:solidFill>
          <a:ln w="9525">
            <a:solidFill>
              <a:srgbClr val="E4ECE8"/>
            </a:solidFill>
            <a:prstDash val="solid"/>
          </a:ln>
        </p:spPr>
      </p:sp>
      <p:sp>
        <p:nvSpPr>
          <p:cNvPr id="18" name="Text 16"/>
          <p:cNvSpPr txBox="1"/>
          <p:nvPr/>
        </p:nvSpPr>
        <p:spPr>
          <a:xfrm>
            <a:off x="914400" y="4315968"/>
            <a:ext cx="3429000" cy="457200"/>
          </a:xfrm>
          <a:prstGeom prst="rect">
            <a:avLst/>
          </a:prstGeom>
          <a:noFill/>
          <a:ln/>
        </p:spPr>
        <p:txBody>
          <a:bodyPr wrap="square" lIns="0" tIns="0" rIns="0" bIns="0" rtlCol="0" anchor="ctr"/>
          <a:lstStyle/>
          <a:p>
            <a:pPr indent="0" marL="0">
              <a:buNone/>
            </a:pPr>
            <a:r>
              <a:rPr lang="en-US" sz="1300" dirty="0">
                <a:solidFill>
                  <a:schemeClr val="tx1"/>
                </a:solidFill>
              </a:rPr>
              <a:t>Assamese deeds</a:t>
            </a:r>
            <a:endParaRPr lang="en-US" sz="1300" dirty="0"/>
          </a:p>
        </p:txBody>
      </p:sp>
      <p:sp>
        <p:nvSpPr>
          <p:cNvPr id="19" name="Text 17"/>
          <p:cNvSpPr txBox="1"/>
          <p:nvPr/>
        </p:nvSpPr>
        <p:spPr>
          <a:xfrm>
            <a:off x="4480560" y="4370832"/>
            <a:ext cx="1234440" cy="347472"/>
          </a:xfrm>
          <a:prstGeom prst="roundRect">
            <a:avLst>
              <a:gd name="adj" fmla="val 26316"/>
            </a:avLst>
          </a:prstGeom>
          <a:solidFill>
            <a:schemeClr val="accent3"/>
          </a:solidFill>
          <a:ln/>
        </p:spPr>
        <p:txBody>
          <a:bodyPr wrap="square" lIns="0" tIns="0" rIns="0" bIns="0" rtlCol="0" anchor="ctr"/>
          <a:lstStyle/>
          <a:p>
            <a:pPr algn="ctr" indent="0" marL="0">
              <a:buNone/>
            </a:pPr>
            <a:r>
              <a:rPr lang="en-US" sz="1300" b="1" dirty="0">
                <a:solidFill>
                  <a:schemeClr val="bg1"/>
                </a:solidFill>
              </a:rPr>
              <a:t>Not tested</a:t>
            </a:r>
            <a:endParaRPr lang="en-US" sz="1300" dirty="0"/>
          </a:p>
        </p:txBody>
      </p:sp>
      <p:sp>
        <p:nvSpPr>
          <p:cNvPr id="20" name="Shape 18"/>
          <p:cNvSpPr/>
          <p:nvPr/>
        </p:nvSpPr>
        <p:spPr>
          <a:xfrm>
            <a:off x="777240" y="4846320"/>
            <a:ext cx="5029200" cy="457200"/>
          </a:xfrm>
          <a:prstGeom prst="roundRect">
            <a:avLst>
              <a:gd name="adj" fmla="val 16000"/>
            </a:avLst>
          </a:prstGeom>
          <a:solidFill>
            <a:schemeClr val="bg1"/>
          </a:solidFill>
          <a:ln w="9525">
            <a:solidFill>
              <a:srgbClr val="E4ECE8"/>
            </a:solidFill>
            <a:prstDash val="solid"/>
          </a:ln>
        </p:spPr>
      </p:sp>
      <p:sp>
        <p:nvSpPr>
          <p:cNvPr id="21" name="Text 19"/>
          <p:cNvSpPr txBox="1"/>
          <p:nvPr/>
        </p:nvSpPr>
        <p:spPr>
          <a:xfrm>
            <a:off x="914400" y="4846320"/>
            <a:ext cx="3429000" cy="457200"/>
          </a:xfrm>
          <a:prstGeom prst="rect">
            <a:avLst/>
          </a:prstGeom>
          <a:noFill/>
          <a:ln/>
        </p:spPr>
        <p:txBody>
          <a:bodyPr wrap="square" lIns="0" tIns="0" rIns="0" bIns="0" rtlCol="0" anchor="ctr"/>
          <a:lstStyle/>
          <a:p>
            <a:pPr indent="0" marL="0">
              <a:buNone/>
            </a:pPr>
            <a:r>
              <a:rPr lang="en-US" sz="1300" dirty="0">
                <a:solidFill>
                  <a:schemeClr val="tx1"/>
                </a:solidFill>
              </a:rPr>
              <a:t>Real deeds and a real registry feed</a:t>
            </a:r>
            <a:endParaRPr lang="en-US" sz="1300" dirty="0"/>
          </a:p>
        </p:txBody>
      </p:sp>
      <p:sp>
        <p:nvSpPr>
          <p:cNvPr id="22" name="Text 20"/>
          <p:cNvSpPr txBox="1"/>
          <p:nvPr/>
        </p:nvSpPr>
        <p:spPr>
          <a:xfrm>
            <a:off x="4480560" y="4901184"/>
            <a:ext cx="1234440" cy="347472"/>
          </a:xfrm>
          <a:prstGeom prst="roundRect">
            <a:avLst>
              <a:gd name="adj" fmla="val 26316"/>
            </a:avLst>
          </a:prstGeom>
          <a:solidFill>
            <a:schemeClr val="accent3"/>
          </a:solidFill>
          <a:ln/>
        </p:spPr>
        <p:txBody>
          <a:bodyPr wrap="square" lIns="0" tIns="0" rIns="0" bIns="0" rtlCol="0" anchor="ctr"/>
          <a:lstStyle/>
          <a:p>
            <a:pPr algn="ctr" indent="0" marL="0">
              <a:buNone/>
            </a:pPr>
            <a:r>
              <a:rPr lang="en-US" sz="1300" b="1" dirty="0">
                <a:solidFill>
                  <a:schemeClr val="bg1"/>
                </a:solidFill>
              </a:rPr>
              <a:t>Not tested</a:t>
            </a:r>
            <a:endParaRPr lang="en-US" sz="1300" dirty="0"/>
          </a:p>
        </p:txBody>
      </p:sp>
      <p:sp>
        <p:nvSpPr>
          <p:cNvPr id="23" name="Text 21"/>
          <p:cNvSpPr txBox="1"/>
          <p:nvPr/>
        </p:nvSpPr>
        <p:spPr>
          <a:xfrm>
            <a:off x="822960" y="5440680"/>
            <a:ext cx="4937760" cy="548640"/>
          </a:xfrm>
          <a:prstGeom prst="rect">
            <a:avLst/>
          </a:prstGeom>
          <a:noFill/>
          <a:ln/>
        </p:spPr>
        <p:txBody>
          <a:bodyPr wrap="square" lIns="0" tIns="0" rIns="0" bIns="0" rtlCol="0" anchor="t"/>
          <a:lstStyle/>
          <a:p>
            <a:pPr indent="0" marL="0">
              <a:buNone/>
            </a:pPr>
            <a:r>
              <a:rPr lang="en-US" sz="1200" dirty="0">
                <a:solidFill>
                  <a:srgbClr val="5B7276"/>
                </a:solidFill>
              </a:rPr>
              <a:t>Also: handwritten ID numbers cannot be masked automatically, and a deed-only view cannot see inheritance, mutations or litigation.</a:t>
            </a:r>
            <a:endParaRPr lang="en-US" sz="1200" dirty="0"/>
          </a:p>
        </p:txBody>
      </p:sp>
      <p:sp>
        <p:nvSpPr>
          <p:cNvPr id="24" name="Shape 22"/>
          <p:cNvSpPr/>
          <p:nvPr/>
        </p:nvSpPr>
        <p:spPr>
          <a:xfrm>
            <a:off x="6309360" y="1508760"/>
            <a:ext cx="5333695" cy="4526280"/>
          </a:xfrm>
          <a:prstGeom prst="roundRect">
            <a:avLst>
              <a:gd name="adj" fmla="val 2424"/>
            </a:avLst>
          </a:prstGeom>
          <a:solidFill>
            <a:schemeClr val="bg1"/>
          </a:solidFill>
          <a:ln w="12700">
            <a:solidFill>
              <a:srgbClr val="E4ECE8"/>
            </a:solidFill>
            <a:prstDash val="solid"/>
          </a:ln>
          <a:effectLst>
            <a:outerShdw sx="100000" sy="100000" kx="0" ky="0" algn="bl" rotWithShape="0" blurRad="76200" dist="25400" dir="5400000">
              <a:srgbClr val="000000">
                <a:alpha val="12000"/>
              </a:srgbClr>
            </a:outerShdw>
          </a:effectLst>
        </p:spPr>
      </p:sp>
      <p:sp>
        <p:nvSpPr>
          <p:cNvPr id="25" name="Text 23"/>
          <p:cNvSpPr txBox="1"/>
          <p:nvPr/>
        </p:nvSpPr>
        <p:spPr>
          <a:xfrm>
            <a:off x="6583680" y="1627632"/>
            <a:ext cx="4785055" cy="457200"/>
          </a:xfrm>
          <a:prstGeom prst="rect">
            <a:avLst/>
          </a:prstGeom>
          <a:noFill/>
          <a:ln/>
        </p:spPr>
        <p:txBody>
          <a:bodyPr wrap="square" lIns="0" tIns="0" rIns="0" bIns="0" rtlCol="0" anchor="t"/>
          <a:lstStyle/>
          <a:p>
            <a:pPr indent="0" marL="0">
              <a:buNone/>
            </a:pPr>
            <a:r>
              <a:rPr lang="en-US" sz="2000" b="1" dirty="0">
                <a:solidFill>
                  <a:schemeClr val="accent1"/>
                </a:solidFill>
              </a:rPr>
              <a:t>Roadmap</a:t>
            </a:r>
            <a:endParaRPr lang="en-US" sz="2000" dirty="0"/>
          </a:p>
        </p:txBody>
      </p:sp>
      <p:sp>
        <p:nvSpPr>
          <p:cNvPr id="26" name="Shape 24"/>
          <p:cNvSpPr/>
          <p:nvPr/>
        </p:nvSpPr>
        <p:spPr>
          <a:xfrm>
            <a:off x="6812280" y="2468880"/>
            <a:ext cx="36576" cy="2852928"/>
          </a:xfrm>
          <a:prstGeom prst="rect">
            <a:avLst/>
          </a:prstGeom>
          <a:solidFill>
            <a:srgbClr val="B9D8D2"/>
          </a:solidFill>
          <a:ln w="12700">
            <a:solidFill>
              <a:srgbClr val="B9D8D2"/>
            </a:solidFill>
            <a:prstDash val="solid"/>
          </a:ln>
        </p:spPr>
      </p:sp>
      <p:sp>
        <p:nvSpPr>
          <p:cNvPr id="27" name="Shape 25"/>
          <p:cNvSpPr/>
          <p:nvPr/>
        </p:nvSpPr>
        <p:spPr>
          <a:xfrm>
            <a:off x="6601968" y="2240280"/>
            <a:ext cx="457200" cy="457200"/>
          </a:xfrm>
          <a:prstGeom prst="ellipse">
            <a:avLst/>
          </a:prstGeom>
          <a:solidFill>
            <a:schemeClr val="accent1"/>
          </a:solidFill>
          <a:ln w="12700">
            <a:solidFill>
              <a:schemeClr val="accent1"/>
            </a:solidFill>
            <a:prstDash val="solid"/>
          </a:ln>
        </p:spPr>
      </p:sp>
      <p:pic>
        <p:nvPicPr>
          <p:cNvPr id="28" name="Image 0" descr="Landmark">    </p:cNvPr>
          <p:cNvPicPr>
            <a:picLocks noChangeAspect="1"/>
          </p:cNvPicPr>
          <p:nvPr/>
        </p:nvPicPr>
        <p:blipFill>
          <a:blip r:embed="rId1"/>
          <a:stretch>
            <a:fillRect/>
          </a:stretch>
        </p:blipFill>
        <p:spPr>
          <a:xfrm>
            <a:off x="6716268" y="2354580"/>
            <a:ext cx="228600" cy="228600"/>
          </a:xfrm>
          <a:prstGeom prst="rect">
            <a:avLst/>
          </a:prstGeom>
        </p:spPr>
      </p:pic>
      <p:sp>
        <p:nvSpPr>
          <p:cNvPr id="29" name="Text 26"/>
          <p:cNvSpPr txBox="1"/>
          <p:nvPr/>
        </p:nvSpPr>
        <p:spPr>
          <a:xfrm>
            <a:off x="7269480" y="2194560"/>
            <a:ext cx="4099255" cy="566928"/>
          </a:xfrm>
          <a:prstGeom prst="rect">
            <a:avLst/>
          </a:prstGeom>
          <a:noFill/>
          <a:ln/>
        </p:spPr>
        <p:txBody>
          <a:bodyPr wrap="square" lIns="0" tIns="0" rIns="0" bIns="0" rtlCol="0" anchor="ctr"/>
          <a:lstStyle/>
          <a:p>
            <a:pPr indent="0" marL="0">
              <a:buNone/>
            </a:pPr>
            <a:r>
              <a:rPr lang="en-US" sz="1400" dirty="0">
                <a:solidFill>
                  <a:schemeClr val="tx1"/>
                </a:solidFill>
              </a:rPr>
              <a:t>Pilot with one Sub-Registrar office on a sandbox registry feed</a:t>
            </a:r>
            <a:endParaRPr lang="en-US" sz="1400" dirty="0"/>
          </a:p>
        </p:txBody>
      </p:sp>
      <p:sp>
        <p:nvSpPr>
          <p:cNvPr id="30" name="Shape 27"/>
          <p:cNvSpPr/>
          <p:nvPr/>
        </p:nvSpPr>
        <p:spPr>
          <a:xfrm>
            <a:off x="6601968" y="2953512"/>
            <a:ext cx="457200" cy="457200"/>
          </a:xfrm>
          <a:prstGeom prst="ellipse">
            <a:avLst/>
          </a:prstGeom>
          <a:solidFill>
            <a:schemeClr val="accent1"/>
          </a:solidFill>
          <a:ln w="12700">
            <a:solidFill>
              <a:schemeClr val="accent1"/>
            </a:solidFill>
            <a:prstDash val="solid"/>
          </a:ln>
        </p:spPr>
      </p:sp>
      <p:pic>
        <p:nvPicPr>
          <p:cNvPr id="31" name="Image 1" descr="Server">    </p:cNvPr>
          <p:cNvPicPr>
            <a:picLocks noChangeAspect="1"/>
          </p:cNvPicPr>
          <p:nvPr/>
        </p:nvPicPr>
        <p:blipFill>
          <a:blip r:embed="rId2"/>
          <a:stretch>
            <a:fillRect/>
          </a:stretch>
        </p:blipFill>
        <p:spPr>
          <a:xfrm>
            <a:off x="6716268" y="3067812"/>
            <a:ext cx="228600" cy="228600"/>
          </a:xfrm>
          <a:prstGeom prst="rect">
            <a:avLst/>
          </a:prstGeom>
        </p:spPr>
      </p:pic>
      <p:sp>
        <p:nvSpPr>
          <p:cNvPr id="32" name="Text 28"/>
          <p:cNvSpPr txBox="1"/>
          <p:nvPr/>
        </p:nvSpPr>
        <p:spPr>
          <a:xfrm>
            <a:off x="7269480" y="2907792"/>
            <a:ext cx="4099255" cy="566928"/>
          </a:xfrm>
          <a:prstGeom prst="rect">
            <a:avLst/>
          </a:prstGeom>
          <a:noFill/>
          <a:ln/>
        </p:spPr>
        <p:txBody>
          <a:bodyPr wrap="square" lIns="0" tIns="0" rIns="0" bIns="0" rtlCol="0" anchor="ctr"/>
          <a:lstStyle/>
          <a:p>
            <a:pPr indent="0" marL="0">
              <a:buNone/>
            </a:pPr>
            <a:r>
              <a:rPr lang="en-US" sz="1400" dirty="0">
                <a:solidFill>
                  <a:schemeClr val="tx1"/>
                </a:solidFill>
              </a:rPr>
              <a:t>Self-hosted Indic vision model, so documents never leave the department</a:t>
            </a:r>
            <a:endParaRPr lang="en-US" sz="1400" dirty="0"/>
          </a:p>
        </p:txBody>
      </p:sp>
      <p:sp>
        <p:nvSpPr>
          <p:cNvPr id="33" name="Shape 29"/>
          <p:cNvSpPr/>
          <p:nvPr/>
        </p:nvSpPr>
        <p:spPr>
          <a:xfrm>
            <a:off x="6601968" y="3666744"/>
            <a:ext cx="457200" cy="457200"/>
          </a:xfrm>
          <a:prstGeom prst="ellipse">
            <a:avLst/>
          </a:prstGeom>
          <a:solidFill>
            <a:schemeClr val="accent2"/>
          </a:solidFill>
          <a:ln w="12700">
            <a:solidFill>
              <a:schemeClr val="accent2"/>
            </a:solidFill>
            <a:prstDash val="solid"/>
          </a:ln>
        </p:spPr>
      </p:sp>
      <p:pic>
        <p:nvPicPr>
          <p:cNvPr id="34" name="Image 2" descr="Map">    </p:cNvPr>
          <p:cNvPicPr>
            <a:picLocks noChangeAspect="1"/>
          </p:cNvPicPr>
          <p:nvPr/>
        </p:nvPicPr>
        <p:blipFill>
          <a:blip r:embed="rId3"/>
          <a:stretch>
            <a:fillRect/>
          </a:stretch>
        </p:blipFill>
        <p:spPr>
          <a:xfrm>
            <a:off x="6716268" y="3781044"/>
            <a:ext cx="228600" cy="228600"/>
          </a:xfrm>
          <a:prstGeom prst="rect">
            <a:avLst/>
          </a:prstGeom>
        </p:spPr>
      </p:pic>
      <p:sp>
        <p:nvSpPr>
          <p:cNvPr id="35" name="Text 30"/>
          <p:cNvSpPr txBox="1"/>
          <p:nvPr/>
        </p:nvSpPr>
        <p:spPr>
          <a:xfrm>
            <a:off x="7269480" y="3621024"/>
            <a:ext cx="4099255" cy="566928"/>
          </a:xfrm>
          <a:prstGeom prst="rect">
            <a:avLst/>
          </a:prstGeom>
          <a:noFill/>
          <a:ln/>
        </p:spPr>
        <p:txBody>
          <a:bodyPr wrap="square" lIns="0" tIns="0" rIns="0" bIns="0" rtlCol="0" anchor="ctr"/>
          <a:lstStyle/>
          <a:p>
            <a:pPr indent="0" marL="0">
              <a:buNone/>
            </a:pPr>
            <a:r>
              <a:rPr lang="en-US" sz="1400" dirty="0">
                <a:solidFill>
                  <a:schemeClr val="tx1"/>
                </a:solidFill>
              </a:rPr>
              <a:t>State rule packs and a real Indic handwriting test set from consented specimens</a:t>
            </a:r>
            <a:endParaRPr lang="en-US" sz="1400" dirty="0"/>
          </a:p>
        </p:txBody>
      </p:sp>
      <p:sp>
        <p:nvSpPr>
          <p:cNvPr id="36" name="Shape 31"/>
          <p:cNvSpPr/>
          <p:nvPr/>
        </p:nvSpPr>
        <p:spPr>
          <a:xfrm>
            <a:off x="6601968" y="4379976"/>
            <a:ext cx="457200" cy="457200"/>
          </a:xfrm>
          <a:prstGeom prst="ellipse">
            <a:avLst/>
          </a:prstGeom>
          <a:solidFill>
            <a:schemeClr val="accent2"/>
          </a:solidFill>
          <a:ln w="12700">
            <a:solidFill>
              <a:schemeClr val="accent2"/>
            </a:solidFill>
            <a:prstDash val="solid"/>
          </a:ln>
        </p:spPr>
      </p:sp>
      <p:pic>
        <p:nvPicPr>
          <p:cNvPr id="37" name="Image 3" descr="Language">    </p:cNvPr>
          <p:cNvPicPr>
            <a:picLocks noChangeAspect="1"/>
          </p:cNvPicPr>
          <p:nvPr/>
        </p:nvPicPr>
        <p:blipFill>
          <a:blip r:embed="rId4"/>
          <a:stretch>
            <a:fillRect/>
          </a:stretch>
        </p:blipFill>
        <p:spPr>
          <a:xfrm>
            <a:off x="6716268" y="4494276"/>
            <a:ext cx="228600" cy="228600"/>
          </a:xfrm>
          <a:prstGeom prst="rect">
            <a:avLst/>
          </a:prstGeom>
        </p:spPr>
      </p:pic>
      <p:sp>
        <p:nvSpPr>
          <p:cNvPr id="38" name="Text 32"/>
          <p:cNvSpPr txBox="1"/>
          <p:nvPr/>
        </p:nvSpPr>
        <p:spPr>
          <a:xfrm>
            <a:off x="7269480" y="4334256"/>
            <a:ext cx="4099255" cy="566928"/>
          </a:xfrm>
          <a:prstGeom prst="rect">
            <a:avLst/>
          </a:prstGeom>
          <a:noFill/>
          <a:ln/>
        </p:spPr>
        <p:txBody>
          <a:bodyPr wrap="square" lIns="0" tIns="0" rIns="0" bIns="0" rtlCol="0" anchor="ctr"/>
          <a:lstStyle/>
          <a:p>
            <a:pPr indent="0" marL="0">
              <a:buNone/>
            </a:pPr>
            <a:r>
              <a:rPr lang="en-US" sz="1400" dirty="0">
                <a:solidFill>
                  <a:schemeClr val="tx1"/>
                </a:solidFill>
              </a:rPr>
              <a:t>Transliteration-aware name matching across scripts</a:t>
            </a:r>
            <a:endParaRPr lang="en-US" sz="1400" dirty="0"/>
          </a:p>
        </p:txBody>
      </p:sp>
      <p:sp>
        <p:nvSpPr>
          <p:cNvPr id="39" name="Shape 33"/>
          <p:cNvSpPr/>
          <p:nvPr/>
        </p:nvSpPr>
        <p:spPr>
          <a:xfrm>
            <a:off x="6601968" y="5093208"/>
            <a:ext cx="457200" cy="457200"/>
          </a:xfrm>
          <a:prstGeom prst="ellipse">
            <a:avLst/>
          </a:prstGeom>
          <a:solidFill>
            <a:schemeClr val="accent2"/>
          </a:solidFill>
          <a:ln w="12700">
            <a:solidFill>
              <a:schemeClr val="accent2"/>
            </a:solidFill>
            <a:prstDash val="solid"/>
          </a:ln>
        </p:spPr>
      </p:sp>
      <p:pic>
        <p:nvPicPr>
          <p:cNvPr id="40" name="Image 4" descr="Robot">    </p:cNvPr>
          <p:cNvPicPr>
            <a:picLocks noChangeAspect="1"/>
          </p:cNvPicPr>
          <p:nvPr/>
        </p:nvPicPr>
        <p:blipFill>
          <a:blip r:embed="rId5"/>
          <a:stretch>
            <a:fillRect/>
          </a:stretch>
        </p:blipFill>
        <p:spPr>
          <a:xfrm>
            <a:off x="6716268" y="5207508"/>
            <a:ext cx="228600" cy="228600"/>
          </a:xfrm>
          <a:prstGeom prst="rect">
            <a:avLst/>
          </a:prstGeom>
        </p:spPr>
      </p:pic>
      <p:sp>
        <p:nvSpPr>
          <p:cNvPr id="41" name="Text 34"/>
          <p:cNvSpPr txBox="1"/>
          <p:nvPr/>
        </p:nvSpPr>
        <p:spPr>
          <a:xfrm>
            <a:off x="7269480" y="5047488"/>
            <a:ext cx="4099255" cy="566928"/>
          </a:xfrm>
          <a:prstGeom prst="rect">
            <a:avLst/>
          </a:prstGeom>
          <a:noFill/>
          <a:ln/>
        </p:spPr>
        <p:txBody>
          <a:bodyPr wrap="square" lIns="0" tIns="0" rIns="0" bIns="0" rtlCol="0" anchor="ctr"/>
          <a:lstStyle/>
          <a:p>
            <a:pPr indent="0" marL="0">
              <a:buNone/>
            </a:pPr>
            <a:r>
              <a:rPr lang="en-US" sz="1400" dirty="0">
                <a:solidFill>
                  <a:schemeClr val="tx1"/>
                </a:solidFill>
              </a:rPr>
              <a:t>A Cline-powered assistant that answers “why was this flagged?”</a:t>
            </a:r>
            <a:endParaRPr lang="en-US" sz="1400" dirty="0"/>
          </a:p>
        </p:txBody>
      </p:sp>
      <p:sp>
        <p:nvSpPr>
          <p:cNvPr id="42" name="Shape 35"/>
          <p:cNvSpPr/>
          <p:nvPr/>
        </p:nvSpPr>
        <p:spPr>
          <a:xfrm>
            <a:off x="6629400" y="5669280"/>
            <a:ext cx="164592" cy="164592"/>
          </a:xfrm>
          <a:prstGeom prst="ellipse">
            <a:avLst/>
          </a:prstGeom>
          <a:solidFill>
            <a:schemeClr val="accent1"/>
          </a:solidFill>
          <a:ln w="12700">
            <a:solidFill>
              <a:schemeClr val="accent1"/>
            </a:solidFill>
            <a:prstDash val="solid"/>
          </a:ln>
        </p:spPr>
      </p:sp>
      <p:sp>
        <p:nvSpPr>
          <p:cNvPr id="43" name="Text 36"/>
          <p:cNvSpPr txBox="1"/>
          <p:nvPr/>
        </p:nvSpPr>
        <p:spPr>
          <a:xfrm>
            <a:off x="6858000" y="5596128"/>
            <a:ext cx="822960" cy="310896"/>
          </a:xfrm>
          <a:prstGeom prst="rect">
            <a:avLst/>
          </a:prstGeom>
          <a:noFill/>
          <a:ln/>
        </p:spPr>
        <p:txBody>
          <a:bodyPr wrap="square" lIns="0" tIns="0" rIns="0" bIns="0" rtlCol="0" anchor="ctr"/>
          <a:lstStyle/>
          <a:p>
            <a:pPr indent="0" marL="0">
              <a:buNone/>
            </a:pPr>
            <a:r>
              <a:rPr lang="en-US" sz="1200" dirty="0">
                <a:solidFill>
                  <a:srgbClr val="5B7276"/>
                </a:solidFill>
              </a:rPr>
              <a:t>Next</a:t>
            </a:r>
            <a:endParaRPr lang="en-US" sz="1200" dirty="0"/>
          </a:p>
        </p:txBody>
      </p:sp>
      <p:sp>
        <p:nvSpPr>
          <p:cNvPr id="44" name="Shape 37"/>
          <p:cNvSpPr/>
          <p:nvPr/>
        </p:nvSpPr>
        <p:spPr>
          <a:xfrm>
            <a:off x="7680960" y="5669280"/>
            <a:ext cx="164592" cy="164592"/>
          </a:xfrm>
          <a:prstGeom prst="ellipse">
            <a:avLst/>
          </a:prstGeom>
          <a:solidFill>
            <a:schemeClr val="accent2"/>
          </a:solidFill>
          <a:ln w="12700">
            <a:solidFill>
              <a:schemeClr val="accent2"/>
            </a:solidFill>
            <a:prstDash val="solid"/>
          </a:ln>
        </p:spPr>
      </p:sp>
      <p:sp>
        <p:nvSpPr>
          <p:cNvPr id="45" name="Text 38"/>
          <p:cNvSpPr txBox="1"/>
          <p:nvPr/>
        </p:nvSpPr>
        <p:spPr>
          <a:xfrm>
            <a:off x="7909560" y="5596128"/>
            <a:ext cx="822960" cy="310896"/>
          </a:xfrm>
          <a:prstGeom prst="rect">
            <a:avLst/>
          </a:prstGeom>
          <a:noFill/>
          <a:ln/>
        </p:spPr>
        <p:txBody>
          <a:bodyPr wrap="square" lIns="0" tIns="0" rIns="0" bIns="0" rtlCol="0" anchor="ctr"/>
          <a:lstStyle/>
          <a:p>
            <a:pPr indent="0" marL="0">
              <a:buNone/>
            </a:pPr>
            <a:r>
              <a:rPr lang="en-US" sz="1200" dirty="0">
                <a:solidFill>
                  <a:srgbClr val="5B7276"/>
                </a:solidFill>
              </a:rPr>
              <a:t>Later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515600" cy="1097280"/>
          </a:xfrm>
          <a:prstGeom prst="rect">
            <a:avLst/>
          </a:prstGeom>
          <a:noFill/>
          <a:ln/>
        </p:spPr>
        <p:txBody>
          <a:bodyPr wrap="square" lIns="0" tIns="0" rIns="0" bIns="0" rtlCol="0" anchor="ctr"/>
          <a:lstStyle/>
          <a:p>
            <a:pPr algn="l" indent="0" marL="0">
              <a:buNone/>
            </a:pPr>
            <a:r>
              <a:rPr lang="en-US" sz="5400" b="1" dirty="0">
                <a:solidFill>
                  <a:schemeClr val="bg1"/>
                </a:solidFill>
              </a:rPr>
              <a:t>Bhoomi Kaaval</a:t>
            </a:r>
            <a:endParaRPr lang="en-US" sz="5400" dirty="0"/>
          </a:p>
        </p:txBody>
      </p:sp>
      <p:sp>
        <p:nvSpPr>
          <p:cNvPr id="3" name="Shape 1"/>
          <p:cNvSpPr/>
          <p:nvPr/>
        </p:nvSpPr>
        <p:spPr>
          <a:xfrm>
            <a:off x="8778240" y="640080"/>
            <a:ext cx="2834640" cy="2834640"/>
          </a:xfrm>
          <a:prstGeom prst="ellipse">
            <a:avLst/>
          </a:prstGeom>
          <a:solidFill>
            <a:srgbClr val="1B5F5A"/>
          </a:solidFill>
          <a:ln w="12700">
            <a:solidFill>
              <a:srgbClr val="1B5F5A"/>
            </a:solidFill>
            <a:prstDash val="solid"/>
          </a:ln>
        </p:spPr>
      </p:sp>
      <p:sp>
        <p:nvSpPr>
          <p:cNvPr id="4" name="Shape 2"/>
          <p:cNvSpPr/>
          <p:nvPr/>
        </p:nvSpPr>
        <p:spPr>
          <a:xfrm>
            <a:off x="9281160" y="1143000"/>
            <a:ext cx="1828800" cy="1828800"/>
          </a:xfrm>
          <a:prstGeom prst="ellipse">
            <a:avLst/>
          </a:prstGeom>
          <a:solidFill>
            <a:schemeClr val="accent1"/>
          </a:solidFill>
          <a:ln w="12700">
            <a:solidFill>
              <a:schemeClr val="accent1"/>
            </a:solidFill>
            <a:prstDash val="solid"/>
          </a:ln>
        </p:spPr>
      </p:sp>
      <p:pic>
        <p:nvPicPr>
          <p:cNvPr id="5" name="Image 0" descr="ShieldHalved">    </p:cNvPr>
          <p:cNvPicPr>
            <a:picLocks noChangeAspect="1"/>
          </p:cNvPicPr>
          <p:nvPr/>
        </p:nvPicPr>
        <p:blipFill>
          <a:blip r:embed="rId1"/>
          <a:stretch>
            <a:fillRect/>
          </a:stretch>
        </p:blipFill>
        <p:spPr>
          <a:xfrm>
            <a:off x="9738360" y="1600200"/>
            <a:ext cx="914400" cy="914400"/>
          </a:xfrm>
          <a:prstGeom prst="rect">
            <a:avLst/>
          </a:prstGeom>
        </p:spPr>
      </p:pic>
      <p:sp>
        <p:nvSpPr>
          <p:cNvPr id="6" name="Shape 3"/>
          <p:cNvSpPr/>
          <p:nvPr/>
        </p:nvSpPr>
        <p:spPr>
          <a:xfrm>
            <a:off x="8732520" y="2788920"/>
            <a:ext cx="822960" cy="822960"/>
          </a:xfrm>
          <a:prstGeom prst="ellipse">
            <a:avLst/>
          </a:prstGeom>
          <a:solidFill>
            <a:schemeClr val="accent2"/>
          </a:solidFill>
          <a:ln w="12700">
            <a:solidFill>
              <a:schemeClr val="accent2"/>
            </a:solidFill>
            <a:prstDash val="solid"/>
          </a:ln>
        </p:spPr>
      </p:sp>
      <p:pic>
        <p:nvPicPr>
          <p:cNvPr id="7" name="Image 1" descr="House">    </p:cNvPr>
          <p:cNvPicPr>
            <a:picLocks noChangeAspect="1"/>
          </p:cNvPicPr>
          <p:nvPr/>
        </p:nvPicPr>
        <p:blipFill>
          <a:blip r:embed="rId2"/>
          <a:stretch>
            <a:fillRect/>
          </a:stretch>
        </p:blipFill>
        <p:spPr>
          <a:xfrm>
            <a:off x="8938260" y="2994660"/>
            <a:ext cx="411480" cy="411480"/>
          </a:xfrm>
          <a:prstGeom prst="rect">
            <a:avLst/>
          </a:prstGeom>
        </p:spPr>
      </p:pic>
      <p:sp>
        <p:nvSpPr>
          <p:cNvPr id="8" name="Shape 4"/>
          <p:cNvSpPr/>
          <p:nvPr/>
        </p:nvSpPr>
        <p:spPr>
          <a:xfrm>
            <a:off x="11109960" y="2606040"/>
            <a:ext cx="731520" cy="731520"/>
          </a:xfrm>
          <a:prstGeom prst="ellipse">
            <a:avLst/>
          </a:prstGeom>
          <a:solidFill>
            <a:schemeClr val="accent5"/>
          </a:solidFill>
          <a:ln w="12700">
            <a:solidFill>
              <a:schemeClr val="accent5"/>
            </a:solidFill>
            <a:prstDash val="solid"/>
          </a:ln>
        </p:spPr>
      </p:sp>
      <p:pic>
        <p:nvPicPr>
          <p:cNvPr id="9" name="Image 2" descr="Lock">    </p:cNvPr>
          <p:cNvPicPr>
            <a:picLocks noChangeAspect="1"/>
          </p:cNvPicPr>
          <p:nvPr/>
        </p:nvPicPr>
        <p:blipFill>
          <a:blip r:embed="rId3"/>
          <a:stretch>
            <a:fillRect/>
          </a:stretch>
        </p:blipFill>
        <p:spPr>
          <a:xfrm>
            <a:off x="11292840" y="2788920"/>
            <a:ext cx="365760" cy="365760"/>
          </a:xfrm>
          <a:prstGeom prst="rect">
            <a:avLst/>
          </a:prstGeom>
        </p:spPr>
      </p:pic>
      <p:sp>
        <p:nvSpPr>
          <p:cNvPr id="10" name="Shape 5"/>
          <p:cNvSpPr/>
          <p:nvPr/>
        </p:nvSpPr>
        <p:spPr>
          <a:xfrm>
            <a:off x="11155680" y="548640"/>
            <a:ext cx="640080" cy="640080"/>
          </a:xfrm>
          <a:prstGeom prst="ellipse">
            <a:avLst/>
          </a:prstGeom>
          <a:solidFill>
            <a:schemeClr val="accent2"/>
          </a:solidFill>
          <a:ln w="12700">
            <a:solidFill>
              <a:schemeClr val="accent2"/>
            </a:solidFill>
            <a:prstDash val="solid"/>
          </a:ln>
        </p:spPr>
      </p:sp>
      <p:pic>
        <p:nvPicPr>
          <p:cNvPr id="11" name="Image 3" descr="Eye">    </p:cNvPr>
          <p:cNvPicPr>
            <a:picLocks noChangeAspect="1"/>
          </p:cNvPicPr>
          <p:nvPr/>
        </p:nvPicPr>
        <p:blipFill>
          <a:blip r:embed="rId4"/>
          <a:stretch>
            <a:fillRect/>
          </a:stretch>
        </p:blipFill>
        <p:spPr>
          <a:xfrm>
            <a:off x="11315700" y="708660"/>
            <a:ext cx="320040" cy="320040"/>
          </a:xfrm>
          <a:prstGeom prst="rect">
            <a:avLst/>
          </a:prstGeom>
        </p:spPr>
      </p:pic>
      <p:sp>
        <p:nvSpPr>
          <p:cNvPr id="12" name="Text 6"/>
          <p:cNvSpPr txBox="1"/>
          <p:nvPr/>
        </p:nvSpPr>
        <p:spPr>
          <a:xfrm>
            <a:off x="731520" y="3200400"/>
            <a:ext cx="10058400" cy="640080"/>
          </a:xfrm>
          <a:prstGeom prst="rect">
            <a:avLst/>
          </a:prstGeom>
          <a:noFill/>
          <a:ln/>
        </p:spPr>
        <p:txBody>
          <a:bodyPr wrap="square" lIns="0" tIns="0" rIns="0" bIns="0" rtlCol="0" anchor="t"/>
          <a:lstStyle/>
          <a:p>
            <a:pPr indent="0" marL="0">
              <a:buNone/>
            </a:pPr>
            <a:r>
              <a:rPr lang="en-US" sz="3000" b="1" dirty="0">
                <a:solidFill>
                  <a:schemeClr val="accent2"/>
                </a:solidFill>
              </a:rPr>
              <a:t>Land guarded by evidence, not guesses.</a:t>
            </a:r>
            <a:endParaRPr lang="en-US" sz="3000" dirty="0"/>
          </a:p>
        </p:txBody>
      </p:sp>
      <p:sp>
        <p:nvSpPr>
          <p:cNvPr id="13" name="Text 7"/>
          <p:cNvSpPr txBox="1"/>
          <p:nvPr/>
        </p:nvSpPr>
        <p:spPr>
          <a:xfrm>
            <a:off x="731520" y="4023360"/>
            <a:ext cx="8686800" cy="822960"/>
          </a:xfrm>
          <a:prstGeom prst="rect">
            <a:avLst/>
          </a:prstGeom>
          <a:noFill/>
          <a:ln/>
        </p:spPr>
        <p:txBody>
          <a:bodyPr wrap="square" lIns="0" tIns="0" rIns="0" bIns="0" rtlCol="0" anchor="t"/>
          <a:lstStyle/>
          <a:p>
            <a:pPr indent="0" marL="0">
              <a:buNone/>
            </a:pPr>
            <a:r>
              <a:rPr lang="en-US" sz="1800" dirty="0">
                <a:solidFill>
                  <a:srgbClr val="CFE9E4"/>
                </a:solidFill>
              </a:rPr>
              <a:t>It shows what your documents support, what they contradict, and what nobody has checked. It never certifies title.</a:t>
            </a:r>
            <a:endParaRPr lang="en-US" sz="1800" dirty="0"/>
          </a:p>
        </p:txBody>
      </p:sp>
      <p:sp>
        <p:nvSpPr>
          <p:cNvPr id="14" name="Text 8"/>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dirty="0">
                <a:solidFill>
                  <a:schemeClr val="bg1"/>
                </a:solidFill>
              </a:rPr>
              <a:t>Demo video  ·  GitHub repository and README  ·  Built with Cline</a:t>
            </a:r>
            <a:endParaRPr lang="en-US" sz="1600" dirty="0"/>
          </a:p>
        </p:txBody>
      </p:sp>
    </p:spTree>
  </p:cSld>
  <p:clrMapOvr>
    <a:masterClrMapping/>
  </p:clrMapOvr>
</p:sld>
</file>

<file path=ppt/theme/theme1.xml><?xml version="1.0" encoding="utf-8"?>
<a:theme xmlns:a="http://schemas.openxmlformats.org/drawingml/2006/main" name="Bhoomi Kaaval">
  <a:themeElements>
    <a:clrScheme name="Bhoomi Kaaval">
      <a:dk1>
        <a:srgbClr val="10262A"/>
      </a:dk1>
      <a:lt1>
        <a:srgbClr val="FFFFFF"/>
      </a:lt1>
      <a:dk2>
        <a:srgbClr val="134E4A"/>
      </a:dk2>
      <a:lt2>
        <a:srgbClr val="FFFBF5"/>
      </a:lt2>
      <a:accent1>
        <a:srgbClr val="0F766E"/>
      </a:accent1>
      <a:accent2>
        <a:srgbClr val="F59E0B"/>
      </a:accent2>
      <a:accent3>
        <a:srgbClr val="E11D48"/>
      </a:accent3>
      <a:accent4>
        <a:srgbClr val="D97706"/>
      </a:accent4>
      <a:accent5>
        <a:srgbClr val="0284C7"/>
      </a:accent5>
      <a:accent6>
        <a:srgbClr val="059669"/>
      </a:accent6>
      <a:hlink>
        <a:srgbClr val="0F766E"/>
      </a:hlink>
      <a:folHlink>
        <a:srgbClr val="5B7276"/>
      </a:folHlink>
    </a:clrScheme>
    <a:fontScheme name="Bhoomi Kaa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Bhoomi Kaaval: check your property papers before you pay</dc:title>
  <dc:subject>PptxGenJS Presentation</dc:subject>
  <dc:creator>Bhoomi Kaaval team</dc:creator>
  <cp:lastModifiedBy>Bhoomi Kaaval team</cp:lastModifiedBy>
  <cp:revision>1</cp:revision>
  <dcterms:created xsi:type="dcterms:W3CDTF">2026-10-10T14:47:33Z</dcterms:created>
  <dcterms:modified xsi:type="dcterms:W3CDTF">2026-10-10T14:47:33Z</dcterms:modified>
</cp:coreProperties>
</file>